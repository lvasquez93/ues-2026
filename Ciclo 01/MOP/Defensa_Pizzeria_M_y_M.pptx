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Utilizado</c:v>
                </c:pt>
              </c:strCache>
            </c:strRef>
          </c:tx>
          <c:spPr>
            <a:solidFill>
              <a:srgbClr val="C0392B"/>
            </a:solidFill>
            <a:effectLst/>
          </c:spPr>
          <c:invertIfNegative val="0"/>
          <c:cat>
            <c:strRef>
              <c:f>Sheet1!$A$2:$A$4</c:f>
              <c:strCache>
                <c:ptCount val="3"/>
                <c:pt idx="0">
                  <c:v>Masa</c:v>
                </c:pt>
                <c:pt idx="1">
                  <c:v>Queso</c:v>
                </c:pt>
                <c:pt idx="2">
                  <c:v>Tiempo</c:v>
                </c:pt>
              </c:strCache>
            </c:strRef>
          </c:cat>
          <c:val>
            <c:numRef>
              <c:f>Sheet1!$B$2:$B$4</c:f>
              <c:numCache>
                <c:formatCode>General</c:formatCode>
                <c:ptCount val="3"/>
                <c:pt idx="0">
                  <c:v>60</c:v>
                </c:pt>
                <c:pt idx="1">
                  <c:v>40</c:v>
                </c:pt>
                <c:pt idx="2">
                  <c:v>15</c:v>
                </c:pt>
              </c:numCache>
            </c:numRef>
          </c:val>
          <c:extLst>
            <c:ext xmlns:c16="http://schemas.microsoft.com/office/drawing/2014/chart" uri="{C3380CC4-5D6E-409C-BE32-E72D297353CC}">
              <c16:uniqueId val="{00000000-5153-438A-A774-3E3A06B4D23B}"/>
            </c:ext>
          </c:extLst>
        </c:ser>
        <c:ser>
          <c:idx val="1"/>
          <c:order val="1"/>
          <c:tx>
            <c:strRef>
              <c:f>Sheet1!$C$1</c:f>
              <c:strCache>
                <c:ptCount val="1"/>
                <c:pt idx="0">
                  <c:v>Disponible</c:v>
                </c:pt>
              </c:strCache>
            </c:strRef>
          </c:tx>
          <c:spPr>
            <a:solidFill>
              <a:srgbClr val="D8CFC4"/>
            </a:solidFill>
            <a:effectLst/>
          </c:spPr>
          <c:invertIfNegative val="0"/>
          <c:cat>
            <c:strRef>
              <c:f>Sheet1!$A$2:$A$4</c:f>
              <c:strCache>
                <c:ptCount val="3"/>
                <c:pt idx="0">
                  <c:v>Masa</c:v>
                </c:pt>
                <c:pt idx="1">
                  <c:v>Queso</c:v>
                </c:pt>
                <c:pt idx="2">
                  <c:v>Tiempo</c:v>
                </c:pt>
              </c:strCache>
            </c:strRef>
          </c:cat>
          <c:val>
            <c:numRef>
              <c:f>Sheet1!$C$2:$C$4</c:f>
              <c:numCache>
                <c:formatCode>General</c:formatCode>
                <c:ptCount val="3"/>
                <c:pt idx="0">
                  <c:v>60</c:v>
                </c:pt>
                <c:pt idx="1">
                  <c:v>40</c:v>
                </c:pt>
                <c:pt idx="2">
                  <c:v>20</c:v>
                </c:pt>
              </c:numCache>
            </c:numRef>
          </c:val>
          <c:extLst>
            <c:ext xmlns:c16="http://schemas.microsoft.com/office/drawing/2014/chart" uri="{C3380CC4-5D6E-409C-BE32-E72D297353CC}">
              <c16:uniqueId val="{00000001-5153-438A-A774-3E3A06B4D23B}"/>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70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8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70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7A7066"/>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9562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Saludo y presentación del equipo. Frase de apertura: 'Presentamos un caso de Programación Lineal en una pizzería local, donde usamos el Método Simplex para decidir cuántas pizzas producir y maximizar la ganancia diaria.' Mantener cámara encendida y buena iluminación.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contexto en 30-40 s: negocio real local, recursos limitados, se eligieron los dos productos más representativos. Aclarar que las ganancias y consumos de recursos se basan en datos representativos del negocio (men ú como referencia). Posible pregunta: '¿de dónde salieron los datos?' → responder que se estimaron a partir del menú y consumo típico, declarados como supuestos.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Justificar la elección de la técnica. Si preguntan por otras técnicas: el método gráfico solo sirve con 2 variables (lo usamos como comprobación), y transporte/asignación aplican a estructuras distintas. Mencionar brevemente qué hace el Simplex (variables de holgura, recorre vértices).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clave. Leer el modelo despacio. Estar listos para: '¿qué representa cada variable?', '¿por qué maximizar?', 'explica una restricción' (cada restricción dice que el consumo del recurso no puede exceder lo disponible), 'por qué no negatividad' (no se pueden producir cantidades negativas). Si señalan la de tiempo, recordar que se analiza en la diapositiva de sensibilidad.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análisis suele olvidarse y da puntos. Recalcar: primero definimos unidades (masa en porciones, queso en libras, tiempo en horas-hombre) y luego verificamos coherencia. Si preguntan por las 20 horas: son horas-hombre del personal durante la jornada, no de una sola persona.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resultado con seguridad. Conectar con la realidad: 'la pizzería debería producir 20 y 20 para ganar 140 al día'. Subrayar que masa y queso se agotan (cuellos de botella). Esto enlaza con sensibilidad.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solo hay 2 variables, el método gráfico permite ver y comprobar el óptimo. Señalar el vértice (20,20). Punto fuerte para la defensa: demuestra que entienden de dónde sale la solución, no solo que usaron un botón.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va la demostración en vivo (30% de la nota). Tener Excel ya abierto con el modelo listo. Mostrar la correspondencia: 'esta celda es la función objetivo, estas son las restricciones'. Plan B: si falla el internet/Excel, usar las capturas de los Anexos. Ensayar los pasos varias veces.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Munición para el Q&amp;A (35%). Dominar: qué es un precio sombra, por qué el del tiempo es 0, y la verificación por dualidad. La restricción redundante es una pregunta probable: explicarla con seguridad demuestra dominio. Si preguntan '¿qué pasa si cambia un recurso?' → usar los precios sombra.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conectando conclusiones con objetivos. Las recomendaciones deben sonar accionables para la pizzería. Tras esta diapositiva viene el turno de preguntas.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Invitar a preguntas con seguridad. Repasar mentalmente: supuestos de PL, qué hace el Simplex, precios sombra, restricción de tiempo redundante, origen de los datos. Por cada decisión del modelo, estar listos para responder '¿por qué?' dos veces.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C16"/>
        </a:solidFill>
        <a:effectLst/>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C0392B">
              <a:alpha val="22000"/>
            </a:srgbClr>
          </a:solidFill>
          <a:ln/>
        </p:spPr>
      </p:sp>
      <p:sp>
        <p:nvSpPr>
          <p:cNvPr id="3" name="Shape 1"/>
          <p:cNvSpPr/>
          <p:nvPr/>
        </p:nvSpPr>
        <p:spPr>
          <a:xfrm>
            <a:off x="10698480" y="4206240"/>
            <a:ext cx="3108960" cy="3108960"/>
          </a:xfrm>
          <a:prstGeom prst="ellipse">
            <a:avLst/>
          </a:prstGeom>
          <a:solidFill>
            <a:srgbClr val="D98E04">
              <a:alpha val="18000"/>
            </a:srgbClr>
          </a:solidFill>
          <a:ln/>
        </p:spPr>
      </p:sp>
      <p:sp>
        <p:nvSpPr>
          <p:cNvPr id="4" name="Shape 2"/>
          <p:cNvSpPr/>
          <p:nvPr/>
        </p:nvSpPr>
        <p:spPr>
          <a:xfrm>
            <a:off x="-822960" y="4663440"/>
            <a:ext cx="2926080" cy="2926080"/>
          </a:xfrm>
          <a:prstGeom prst="ellipse">
            <a:avLst/>
          </a:prstGeom>
          <a:solidFill>
            <a:srgbClr val="C0392B">
              <a:alpha val="14000"/>
            </a:srgbClr>
          </a:solidFill>
          <a:ln/>
        </p:spPr>
      </p:sp>
      <p:sp>
        <p:nvSpPr>
          <p:cNvPr id="5" name="Text 3"/>
          <p:cNvSpPr/>
          <p:nvPr/>
        </p:nvSpPr>
        <p:spPr>
          <a:xfrm>
            <a:off x="777240" y="502920"/>
            <a:ext cx="10058400" cy="365760"/>
          </a:xfrm>
          <a:prstGeom prst="rect">
            <a:avLst/>
          </a:prstGeom>
          <a:noFill/>
          <a:ln/>
        </p:spPr>
        <p:txBody>
          <a:bodyPr wrap="square" lIns="0" tIns="0" rIns="0" bIns="0" rtlCol="0" anchor="ctr"/>
          <a:lstStyle/>
          <a:p>
            <a:pPr marL="0" indent="0">
              <a:buNone/>
            </a:pPr>
            <a:r>
              <a:rPr lang="en-US" sz="1300" b="1" kern="0" spc="200" dirty="0">
                <a:solidFill>
                  <a:srgbClr val="D98E04"/>
                </a:solidFill>
                <a:latin typeface="Calibri" pitchFamily="34" charset="0"/>
                <a:ea typeface="Calibri" pitchFamily="34" charset="-122"/>
                <a:cs typeface="Calibri" pitchFamily="34" charset="-120"/>
              </a:rPr>
              <a:t>MÉTODOS DE OPTIMIZACIÓN · CICLO I 2026</a:t>
            </a:r>
            <a:endParaRPr lang="en-US" sz="1300" dirty="0"/>
          </a:p>
        </p:txBody>
      </p:sp>
      <p:sp>
        <p:nvSpPr>
          <p:cNvPr id="6" name="Text 4"/>
          <p:cNvSpPr/>
          <p:nvPr/>
        </p:nvSpPr>
        <p:spPr>
          <a:xfrm>
            <a:off x="777240" y="1600200"/>
            <a:ext cx="10241280" cy="1737360"/>
          </a:xfrm>
          <a:prstGeom prst="rect">
            <a:avLst/>
          </a:prstGeom>
          <a:noFill/>
          <a:ln/>
        </p:spPr>
        <p:txBody>
          <a:bodyPr wrap="square" lIns="0" tIns="0" rIns="0" bIns="0" rtlCol="0" anchor="ctr"/>
          <a:lstStyle/>
          <a:p>
            <a:pPr marL="0" indent="0">
              <a:lnSpc>
                <a:spcPct val="102000"/>
              </a:lnSpc>
              <a:buNone/>
            </a:pPr>
            <a:r>
              <a:rPr lang="en-US" sz="4000" b="1" dirty="0">
                <a:solidFill>
                  <a:srgbClr val="FFFFFF"/>
                </a:solidFill>
                <a:latin typeface="Georgia" pitchFamily="34" charset="0"/>
                <a:ea typeface="Georgia" pitchFamily="34" charset="-122"/>
                <a:cs typeface="Georgia" pitchFamily="34" charset="-120"/>
              </a:rPr>
              <a:t>Aplicación del Método Simplex en la</a:t>
            </a:r>
            <a:endParaRPr lang="en-US" sz="4000" dirty="0"/>
          </a:p>
          <a:p>
            <a:pPr marL="0" indent="0">
              <a:lnSpc>
                <a:spcPct val="102000"/>
              </a:lnSpc>
              <a:buNone/>
            </a:pPr>
            <a:r>
              <a:rPr lang="en-US" sz="4000" b="1" dirty="0">
                <a:solidFill>
                  <a:srgbClr val="FFFFFF"/>
                </a:solidFill>
                <a:latin typeface="Georgia" pitchFamily="34" charset="0"/>
                <a:ea typeface="Georgia" pitchFamily="34" charset="-122"/>
                <a:cs typeface="Georgia" pitchFamily="34" charset="-120"/>
              </a:rPr>
              <a:t>Pizzería M y M</a:t>
            </a:r>
            <a:endParaRPr lang="en-US" sz="4000" dirty="0"/>
          </a:p>
        </p:txBody>
      </p:sp>
      <p:sp>
        <p:nvSpPr>
          <p:cNvPr id="7" name="Text 5"/>
          <p:cNvSpPr/>
          <p:nvPr/>
        </p:nvSpPr>
        <p:spPr>
          <a:xfrm>
            <a:off x="822960" y="3429000"/>
            <a:ext cx="9601200" cy="457200"/>
          </a:xfrm>
          <a:prstGeom prst="rect">
            <a:avLst/>
          </a:prstGeom>
          <a:noFill/>
          <a:ln/>
        </p:spPr>
        <p:txBody>
          <a:bodyPr wrap="square" lIns="0" tIns="0" rIns="0" bIns="0" rtlCol="0" anchor="ctr"/>
          <a:lstStyle/>
          <a:p>
            <a:pPr marL="0" indent="0">
              <a:buNone/>
            </a:pPr>
            <a:r>
              <a:rPr lang="en-US" sz="1600" i="1" dirty="0">
                <a:solidFill>
                  <a:srgbClr val="D9CFC4"/>
                </a:solidFill>
                <a:latin typeface="Calibri" pitchFamily="34" charset="0"/>
                <a:ea typeface="Calibri" pitchFamily="34" charset="-122"/>
                <a:cs typeface="Calibri" pitchFamily="34" charset="-120"/>
              </a:rPr>
              <a:t>Programación Lineal para maximizar la ganancia diaria de producción</a:t>
            </a:r>
            <a:endParaRPr lang="en-US" sz="1600" dirty="0"/>
          </a:p>
        </p:txBody>
      </p:sp>
      <p:sp>
        <p:nvSpPr>
          <p:cNvPr id="8" name="Shape 6"/>
          <p:cNvSpPr/>
          <p:nvPr/>
        </p:nvSpPr>
        <p:spPr>
          <a:xfrm>
            <a:off x="841248" y="4160520"/>
            <a:ext cx="3291840" cy="0"/>
          </a:xfrm>
          <a:prstGeom prst="line">
            <a:avLst/>
          </a:prstGeom>
          <a:noFill/>
          <a:ln w="31750">
            <a:solidFill>
              <a:srgbClr val="C0392B"/>
            </a:solidFill>
            <a:prstDash val="solid"/>
          </a:ln>
        </p:spPr>
      </p:sp>
      <p:sp>
        <p:nvSpPr>
          <p:cNvPr id="9" name="Text 7"/>
          <p:cNvSpPr/>
          <p:nvPr/>
        </p:nvSpPr>
        <p:spPr>
          <a:xfrm>
            <a:off x="853440" y="4800600"/>
            <a:ext cx="6400800" cy="1463040"/>
          </a:xfrm>
          <a:prstGeom prst="rect">
            <a:avLst/>
          </a:prstGeom>
          <a:noFill/>
          <a:ln/>
        </p:spPr>
        <p:txBody>
          <a:bodyPr wrap="square" lIns="0" tIns="0" rIns="0" bIns="0" rtlCol="0" anchor="ctr"/>
          <a:lstStyle/>
          <a:p>
            <a:pPr marL="0" indent="0">
              <a:lnSpc>
                <a:spcPct val="115000"/>
              </a:lnSpc>
              <a:buNone/>
            </a:pPr>
            <a:r>
              <a:rPr lang="en-US" sz="1200" b="1" dirty="0">
                <a:solidFill>
                  <a:srgbClr val="D98E04"/>
                </a:solidFill>
                <a:latin typeface="Calibri" pitchFamily="34" charset="0"/>
                <a:ea typeface="Calibri" pitchFamily="34" charset="-122"/>
                <a:cs typeface="Calibri" pitchFamily="34" charset="-120"/>
              </a:rPr>
              <a:t>Integrantes</a:t>
            </a:r>
            <a:endParaRPr lang="en-US" sz="1200" dirty="0"/>
          </a:p>
          <a:p>
            <a:pPr>
              <a:lnSpc>
                <a:spcPct val="115000"/>
              </a:lnSpc>
            </a:pPr>
            <a:r>
              <a:rPr lang="en-US" sz="1300" dirty="0">
                <a:solidFill>
                  <a:srgbClr val="EDE6DD"/>
                </a:solidFill>
                <a:latin typeface="Calibri" pitchFamily="34" charset="0"/>
                <a:ea typeface="Calibri" pitchFamily="34" charset="-122"/>
                <a:cs typeface="Calibri" pitchFamily="34" charset="-120"/>
              </a:rPr>
              <a:t>Madison Ariadna Acosta Artiga - </a:t>
            </a:r>
            <a:r>
              <a:rPr lang="es-SV" sz="1300" dirty="0">
                <a:solidFill>
                  <a:srgbClr val="EDE6DD"/>
                </a:solidFill>
                <a:latin typeface="Calibri" pitchFamily="34" charset="0"/>
                <a:ea typeface="Calibri" pitchFamily="34" charset="-122"/>
                <a:cs typeface="Calibri" pitchFamily="34" charset="-120"/>
              </a:rPr>
              <a:t>AA23071</a:t>
            </a:r>
            <a:endParaRPr lang="en-US" sz="1300" dirty="0">
              <a:solidFill>
                <a:srgbClr val="EDE6DD"/>
              </a:solidFill>
              <a:latin typeface="Calibri" pitchFamily="34" charset="0"/>
              <a:ea typeface="Calibri" pitchFamily="34" charset="-122"/>
              <a:cs typeface="Calibri" pitchFamily="34" charset="-120"/>
            </a:endParaRPr>
          </a:p>
          <a:p>
            <a:pPr>
              <a:lnSpc>
                <a:spcPct val="115000"/>
              </a:lnSpc>
            </a:pPr>
            <a:r>
              <a:rPr lang="en-US" sz="1300" dirty="0">
                <a:solidFill>
                  <a:srgbClr val="EDE6DD"/>
                </a:solidFill>
                <a:latin typeface="Calibri" pitchFamily="34" charset="0"/>
                <a:ea typeface="Calibri" pitchFamily="34" charset="-122"/>
                <a:cs typeface="Calibri" pitchFamily="34" charset="-120"/>
              </a:rPr>
              <a:t>Luis Enrique Vásquez Menjivar - </a:t>
            </a:r>
            <a:r>
              <a:rPr lang="es-SV" sz="1300" dirty="0">
                <a:solidFill>
                  <a:srgbClr val="EDE6DD"/>
                </a:solidFill>
                <a:latin typeface="Calibri" pitchFamily="34" charset="0"/>
                <a:ea typeface="Calibri" pitchFamily="34" charset="-122"/>
                <a:cs typeface="Calibri" pitchFamily="34" charset="-120"/>
              </a:rPr>
              <a:t>VM15037</a:t>
            </a:r>
            <a:endParaRPr lang="en-US" sz="1300" dirty="0">
              <a:solidFill>
                <a:srgbClr val="EDE6DD"/>
              </a:solidFill>
              <a:latin typeface="Calibri" pitchFamily="34" charset="0"/>
              <a:ea typeface="Calibri" pitchFamily="34" charset="-122"/>
              <a:cs typeface="Calibri" pitchFamily="34" charset="-120"/>
            </a:endParaRPr>
          </a:p>
          <a:p>
            <a:pPr>
              <a:lnSpc>
                <a:spcPct val="115000"/>
              </a:lnSpc>
            </a:pPr>
            <a:r>
              <a:rPr lang="en-US" sz="1300" dirty="0">
                <a:solidFill>
                  <a:srgbClr val="EDE6DD"/>
                </a:solidFill>
                <a:latin typeface="Calibri" pitchFamily="34" charset="0"/>
                <a:ea typeface="Calibri" pitchFamily="34" charset="-122"/>
                <a:cs typeface="Calibri" pitchFamily="34" charset="-120"/>
              </a:rPr>
              <a:t>Josué Alirio Monterrosa Jacobo - </a:t>
            </a:r>
            <a:r>
              <a:rPr lang="es-SV" sz="1300" dirty="0">
                <a:solidFill>
                  <a:srgbClr val="EDE6DD"/>
                </a:solidFill>
                <a:latin typeface="Calibri" pitchFamily="34" charset="0"/>
                <a:ea typeface="Calibri" pitchFamily="34" charset="-122"/>
                <a:cs typeface="Calibri" pitchFamily="34" charset="-120"/>
              </a:rPr>
              <a:t>MJ21004</a:t>
            </a:r>
            <a:endParaRPr lang="en-US" sz="1300" dirty="0">
              <a:solidFill>
                <a:srgbClr val="EDE6DD"/>
              </a:solidFill>
              <a:latin typeface="Calibri" pitchFamily="34" charset="0"/>
              <a:ea typeface="Calibri" pitchFamily="34" charset="-122"/>
              <a:cs typeface="Calibri" pitchFamily="34" charset="-120"/>
            </a:endParaRPr>
          </a:p>
        </p:txBody>
      </p:sp>
      <p:sp>
        <p:nvSpPr>
          <p:cNvPr id="10" name="Text 8"/>
          <p:cNvSpPr/>
          <p:nvPr/>
        </p:nvSpPr>
        <p:spPr>
          <a:xfrm>
            <a:off x="822960" y="6263640"/>
            <a:ext cx="10515600" cy="365760"/>
          </a:xfrm>
          <a:prstGeom prst="rect">
            <a:avLst/>
          </a:prstGeom>
          <a:noFill/>
          <a:ln/>
        </p:spPr>
        <p:txBody>
          <a:bodyPr wrap="square" lIns="0" tIns="0" rIns="0" bIns="0" rtlCol="0" anchor="ctr"/>
          <a:lstStyle/>
          <a:p>
            <a:pPr marL="0" indent="0">
              <a:buNone/>
            </a:pPr>
            <a:r>
              <a:rPr lang="en-US" sz="1100" dirty="0">
                <a:solidFill>
                  <a:srgbClr val="9A8F84"/>
                </a:solidFill>
                <a:latin typeface="Calibri" pitchFamily="34" charset="0"/>
                <a:ea typeface="Calibri" pitchFamily="34" charset="-122"/>
                <a:cs typeface="Calibri" pitchFamily="34" charset="-120"/>
              </a:rPr>
              <a:t>Universidad de El Salvador · Facultad de Ingeniería y Arquitectura · Escuela de Ingeniería de Sistemas Informáticos</a:t>
            </a:r>
            <a:endParaRPr lang="en-US" sz="1100" dirty="0"/>
          </a:p>
        </p:txBody>
      </p:sp>
      <p:sp>
        <p:nvSpPr>
          <p:cNvPr id="12" name="CuadroTexto 11">
            <a:extLst>
              <a:ext uri="{FF2B5EF4-FFF2-40B4-BE49-F238E27FC236}">
                <a16:creationId xmlns:a16="http://schemas.microsoft.com/office/drawing/2014/main" id="{3DFD7C1A-EC0D-635B-38DD-8C2C790FEBD9}"/>
              </a:ext>
            </a:extLst>
          </p:cNvPr>
          <p:cNvSpPr txBox="1"/>
          <p:nvPr/>
        </p:nvSpPr>
        <p:spPr>
          <a:xfrm>
            <a:off x="640080" y="734998"/>
            <a:ext cx="7315200" cy="369332"/>
          </a:xfrm>
          <a:prstGeom prst="rect">
            <a:avLst/>
          </a:prstGeom>
          <a:noFill/>
        </p:spPr>
        <p:txBody>
          <a:bodyPr wrap="square">
            <a:spAutoFit/>
          </a:bodyPr>
          <a:lstStyle/>
          <a:p>
            <a:r>
              <a:rPr lang="en-US" sz="1800" dirty="0">
                <a:solidFill>
                  <a:srgbClr val="EDE6DD"/>
                </a:solidFill>
                <a:latin typeface="Calibri" pitchFamily="34" charset="0"/>
                <a:ea typeface="Calibri" pitchFamily="34" charset="-122"/>
                <a:cs typeface="Calibri" pitchFamily="34" charset="-120"/>
              </a:rPr>
              <a:t>Ing. Gustavo Gutiérrez</a:t>
            </a:r>
            <a:endParaRPr lang="es-SV"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274320"/>
          </a:xfrm>
          <a:prstGeom prst="rect">
            <a:avLst/>
          </a:prstGeom>
          <a:noFill/>
          <a:ln/>
        </p:spPr>
        <p:txBody>
          <a:bodyPr wrap="square" lIns="0" tIns="0" rIns="0" bIns="0"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EL CASO</a:t>
            </a:r>
            <a:endParaRPr lang="en-US" sz="1200" dirty="0"/>
          </a:p>
        </p:txBody>
      </p:sp>
      <p:sp>
        <p:nvSpPr>
          <p:cNvPr id="3" name="Text 1"/>
          <p:cNvSpPr/>
          <p:nvPr/>
        </p:nvSpPr>
        <p:spPr>
          <a:xfrm>
            <a:off x="822960" y="841248"/>
            <a:ext cx="10515600" cy="822960"/>
          </a:xfrm>
          <a:prstGeom prst="rect">
            <a:avLst/>
          </a:prstGeom>
          <a:noFill/>
          <a:ln/>
        </p:spPr>
        <p:txBody>
          <a:bodyPr wrap="square" lIns="0" tIns="0" rIns="0" bIns="0" rtlCol="0" anchor="ctr"/>
          <a:lstStyle/>
          <a:p>
            <a:pPr marL="0" indent="0">
              <a:buNone/>
            </a:pPr>
            <a:r>
              <a:rPr lang="en-US" sz="3200" b="1" dirty="0">
                <a:solidFill>
                  <a:srgbClr val="241C16"/>
                </a:solidFill>
                <a:latin typeface="Georgia" pitchFamily="34" charset="0"/>
                <a:ea typeface="Georgia" pitchFamily="34" charset="-122"/>
                <a:cs typeface="Georgia" pitchFamily="34" charset="-120"/>
              </a:rPr>
              <a:t>El problema a resolver</a:t>
            </a:r>
            <a:endParaRPr lang="en-US" sz="3200" dirty="0"/>
          </a:p>
        </p:txBody>
      </p:sp>
      <p:sp>
        <p:nvSpPr>
          <p:cNvPr id="4" name="Text 2"/>
          <p:cNvSpPr/>
          <p:nvPr/>
        </p:nvSpPr>
        <p:spPr>
          <a:xfrm>
            <a:off x="822960" y="1783080"/>
            <a:ext cx="5852160" cy="1554480"/>
          </a:xfrm>
          <a:prstGeom prst="rect">
            <a:avLst/>
          </a:prstGeom>
          <a:noFill/>
          <a:ln/>
        </p:spPr>
        <p:txBody>
          <a:bodyPr wrap="square" lIns="0" tIns="0" rIns="0" bIns="0" rtlCol="0" anchor="ctr"/>
          <a:lstStyle/>
          <a:p>
            <a:pPr marL="0" indent="0">
              <a:lnSpc>
                <a:spcPct val="120000"/>
              </a:lnSpc>
              <a:buNone/>
            </a:pPr>
            <a:r>
              <a:rPr lang="en-US" sz="1600" dirty="0">
                <a:solidFill>
                  <a:srgbClr val="2B2118"/>
                </a:solidFill>
                <a:latin typeface="Calibri" pitchFamily="34" charset="0"/>
                <a:ea typeface="Calibri" pitchFamily="34" charset="-122"/>
                <a:cs typeface="Calibri" pitchFamily="34" charset="-120"/>
              </a:rPr>
              <a:t>La Pizzería M y M, de Quezaltepeque, quiere decidir cuántas pizzas producir cada día para obtener la mayor ganancia posible, usando de forma eficiente sus recursos limitados de masa, queso y tiempo de preparación.</a:t>
            </a:r>
            <a:endParaRPr lang="en-US" sz="1600" dirty="0"/>
          </a:p>
        </p:txBody>
      </p:sp>
      <p:sp>
        <p:nvSpPr>
          <p:cNvPr id="5" name="Shape 3"/>
          <p:cNvSpPr/>
          <p:nvPr/>
        </p:nvSpPr>
        <p:spPr>
          <a:xfrm>
            <a:off x="822960" y="3520440"/>
            <a:ext cx="5852160" cy="1280160"/>
          </a:xfrm>
          <a:prstGeom prst="roundRect">
            <a:avLst>
              <a:gd name="adj" fmla="val 5714"/>
            </a:avLst>
          </a:prstGeom>
          <a:solidFill>
            <a:srgbClr val="F7F4F0"/>
          </a:solidFill>
          <a:ln w="12700">
            <a:solidFill>
              <a:srgbClr val="E6DFD6"/>
            </a:solidFill>
            <a:prstDash val="solid"/>
          </a:ln>
        </p:spPr>
      </p:sp>
      <p:sp>
        <p:nvSpPr>
          <p:cNvPr id="6" name="Text 4"/>
          <p:cNvSpPr/>
          <p:nvPr/>
        </p:nvSpPr>
        <p:spPr>
          <a:xfrm>
            <a:off x="1051560" y="3657600"/>
            <a:ext cx="5394960" cy="1005840"/>
          </a:xfrm>
          <a:prstGeom prst="rect">
            <a:avLst/>
          </a:prstGeom>
          <a:noFill/>
          <a:ln/>
        </p:spPr>
        <p:txBody>
          <a:bodyPr wrap="square" lIns="0" tIns="0" rIns="0" bIns="0" rtlCol="0" anchor="ctr"/>
          <a:lstStyle/>
          <a:p>
            <a:pPr marL="0" indent="0">
              <a:lnSpc>
                <a:spcPct val="112000"/>
              </a:lnSpc>
              <a:buNone/>
            </a:pPr>
            <a:r>
              <a:rPr lang="en-US" sz="1300" b="1" dirty="0">
                <a:solidFill>
                  <a:srgbClr val="C0392B"/>
                </a:solidFill>
                <a:latin typeface="Calibri" pitchFamily="34" charset="0"/>
                <a:ea typeface="Calibri" pitchFamily="34" charset="-122"/>
                <a:cs typeface="Calibri" pitchFamily="34" charset="-120"/>
              </a:rPr>
              <a:t>Pregunta de decisión
</a:t>
            </a:r>
            <a:r>
              <a:rPr lang="en-US" sz="1500" dirty="0">
                <a:solidFill>
                  <a:srgbClr val="2B2118"/>
                </a:solidFill>
                <a:latin typeface="Calibri" pitchFamily="34" charset="0"/>
                <a:ea typeface="Calibri" pitchFamily="34" charset="-122"/>
                <a:cs typeface="Calibri" pitchFamily="34" charset="-120"/>
              </a:rPr>
              <a:t>¿Cuántas pizzas gigantes y cuántas personales conviene producir al día para maximizar la ganancia?</a:t>
            </a:r>
            <a:endParaRPr lang="en-US" sz="1300" dirty="0"/>
          </a:p>
        </p:txBody>
      </p:sp>
      <p:sp>
        <p:nvSpPr>
          <p:cNvPr id="7" name="Shape 5"/>
          <p:cNvSpPr/>
          <p:nvPr/>
        </p:nvSpPr>
        <p:spPr>
          <a:xfrm>
            <a:off x="7132320" y="1783080"/>
            <a:ext cx="4206240" cy="1371600"/>
          </a:xfrm>
          <a:prstGeom prst="roundRect">
            <a:avLst>
              <a:gd name="adj" fmla="val 6667"/>
            </a:avLst>
          </a:prstGeom>
          <a:solidFill>
            <a:srgbClr val="FFFFFF"/>
          </a:solidFill>
          <a:ln w="12700">
            <a:solidFill>
              <a:srgbClr val="E6DFD6"/>
            </a:solidFill>
            <a:prstDash val="solid"/>
          </a:ln>
          <a:effectLst>
            <a:outerShdw blurRad="101600" dist="38100" dir="8100000" algn="bl" rotWithShape="0">
              <a:srgbClr val="000000">
                <a:alpha val="12000"/>
              </a:srgbClr>
            </a:outerShdw>
          </a:effectLst>
        </p:spPr>
      </p:sp>
      <p:sp>
        <p:nvSpPr>
          <p:cNvPr id="8" name="Shape 6"/>
          <p:cNvSpPr/>
          <p:nvPr/>
        </p:nvSpPr>
        <p:spPr>
          <a:xfrm>
            <a:off x="7406640" y="2167128"/>
            <a:ext cx="594360" cy="594360"/>
          </a:xfrm>
          <a:prstGeom prst="ellipse">
            <a:avLst/>
          </a:prstGeom>
          <a:solidFill>
            <a:srgbClr val="C0392B"/>
          </a:solidFill>
          <a:ln/>
        </p:spPr>
      </p:sp>
      <p:sp>
        <p:nvSpPr>
          <p:cNvPr id="9" name="Text 7"/>
          <p:cNvSpPr/>
          <p:nvPr/>
        </p:nvSpPr>
        <p:spPr>
          <a:xfrm>
            <a:off x="7406640" y="2167128"/>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G</a:t>
            </a:r>
            <a:endParaRPr lang="en-US" sz="2000" dirty="0"/>
          </a:p>
        </p:txBody>
      </p:sp>
      <p:sp>
        <p:nvSpPr>
          <p:cNvPr id="10" name="Text 8"/>
          <p:cNvSpPr/>
          <p:nvPr/>
        </p:nvSpPr>
        <p:spPr>
          <a:xfrm>
            <a:off x="8183880" y="2057400"/>
            <a:ext cx="3017520" cy="868680"/>
          </a:xfrm>
          <a:prstGeom prst="rect">
            <a:avLst/>
          </a:prstGeom>
          <a:noFill/>
          <a:ln/>
        </p:spPr>
        <p:txBody>
          <a:bodyPr wrap="square" lIns="0" tIns="0" rIns="0" bIns="0" rtlCol="0" anchor="ctr"/>
          <a:lstStyle/>
          <a:p>
            <a:pPr marL="0" indent="0">
              <a:lnSpc>
                <a:spcPct val="110000"/>
              </a:lnSpc>
              <a:buNone/>
            </a:pPr>
            <a:r>
              <a:rPr lang="en-US" sz="1600" b="1" dirty="0">
                <a:solidFill>
                  <a:srgbClr val="241C16"/>
                </a:solidFill>
                <a:latin typeface="Calibri" pitchFamily="34" charset="0"/>
                <a:ea typeface="Calibri" pitchFamily="34" charset="-122"/>
                <a:cs typeface="Calibri" pitchFamily="34" charset="-120"/>
              </a:rPr>
              <a:t>Pizza Gigante Suprema
</a:t>
            </a:r>
            <a:r>
              <a:rPr lang="en-US" sz="1300" dirty="0">
                <a:solidFill>
                  <a:srgbClr val="7A7066"/>
                </a:solidFill>
                <a:latin typeface="Calibri" pitchFamily="34" charset="0"/>
                <a:ea typeface="Calibri" pitchFamily="34" charset="-122"/>
                <a:cs typeface="Calibri" pitchFamily="34" charset="-120"/>
              </a:rPr>
              <a:t>$5 de ganancia / unidad</a:t>
            </a:r>
            <a:endParaRPr lang="en-US" sz="1600" dirty="0"/>
          </a:p>
        </p:txBody>
      </p:sp>
      <p:sp>
        <p:nvSpPr>
          <p:cNvPr id="11" name="Shape 9"/>
          <p:cNvSpPr/>
          <p:nvPr/>
        </p:nvSpPr>
        <p:spPr>
          <a:xfrm>
            <a:off x="7132320" y="3383280"/>
            <a:ext cx="4206240" cy="1371600"/>
          </a:xfrm>
          <a:prstGeom prst="roundRect">
            <a:avLst>
              <a:gd name="adj" fmla="val 6667"/>
            </a:avLst>
          </a:prstGeom>
          <a:solidFill>
            <a:srgbClr val="FFFFFF"/>
          </a:solidFill>
          <a:ln w="12700">
            <a:solidFill>
              <a:srgbClr val="E6DFD6"/>
            </a:solidFill>
            <a:prstDash val="solid"/>
          </a:ln>
          <a:effectLst>
            <a:outerShdw blurRad="101600" dist="38100" dir="8100000" algn="bl" rotWithShape="0">
              <a:srgbClr val="000000">
                <a:alpha val="12000"/>
              </a:srgbClr>
            </a:outerShdw>
          </a:effectLst>
        </p:spPr>
      </p:sp>
      <p:sp>
        <p:nvSpPr>
          <p:cNvPr id="12" name="Shape 10"/>
          <p:cNvSpPr/>
          <p:nvPr/>
        </p:nvSpPr>
        <p:spPr>
          <a:xfrm>
            <a:off x="7406640" y="3767328"/>
            <a:ext cx="594360" cy="594360"/>
          </a:xfrm>
          <a:prstGeom prst="ellipse">
            <a:avLst/>
          </a:prstGeom>
          <a:solidFill>
            <a:srgbClr val="D98E04"/>
          </a:solidFill>
          <a:ln/>
        </p:spPr>
      </p:sp>
      <p:sp>
        <p:nvSpPr>
          <p:cNvPr id="13" name="Text 11"/>
          <p:cNvSpPr/>
          <p:nvPr/>
        </p:nvSpPr>
        <p:spPr>
          <a:xfrm>
            <a:off x="7406640" y="3767328"/>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P</a:t>
            </a:r>
            <a:endParaRPr lang="en-US" sz="2000" dirty="0"/>
          </a:p>
        </p:txBody>
      </p:sp>
      <p:sp>
        <p:nvSpPr>
          <p:cNvPr id="14" name="Text 12"/>
          <p:cNvSpPr/>
          <p:nvPr/>
        </p:nvSpPr>
        <p:spPr>
          <a:xfrm>
            <a:off x="8183880" y="3657600"/>
            <a:ext cx="3017520" cy="868680"/>
          </a:xfrm>
          <a:prstGeom prst="rect">
            <a:avLst/>
          </a:prstGeom>
          <a:noFill/>
          <a:ln/>
        </p:spPr>
        <p:txBody>
          <a:bodyPr wrap="square" lIns="0" tIns="0" rIns="0" bIns="0" rtlCol="0" anchor="ctr"/>
          <a:lstStyle/>
          <a:p>
            <a:pPr marL="0" indent="0">
              <a:lnSpc>
                <a:spcPct val="110000"/>
              </a:lnSpc>
              <a:buNone/>
            </a:pPr>
            <a:r>
              <a:rPr lang="en-US" sz="1600" b="1" dirty="0">
                <a:solidFill>
                  <a:srgbClr val="241C16"/>
                </a:solidFill>
                <a:latin typeface="Calibri" pitchFamily="34" charset="0"/>
                <a:ea typeface="Calibri" pitchFamily="34" charset="-122"/>
                <a:cs typeface="Calibri" pitchFamily="34" charset="-120"/>
              </a:rPr>
              <a:t>Pizza Personal Suprema
</a:t>
            </a:r>
            <a:r>
              <a:rPr lang="en-US" sz="1300" dirty="0">
                <a:solidFill>
                  <a:srgbClr val="7A7066"/>
                </a:solidFill>
                <a:latin typeface="Calibri" pitchFamily="34" charset="0"/>
                <a:ea typeface="Calibri" pitchFamily="34" charset="-122"/>
                <a:cs typeface="Calibri" pitchFamily="34" charset="-120"/>
              </a:rPr>
              <a:t>$2 de ganancia / unidad</a:t>
            </a:r>
            <a:endParaRPr lang="en-US" sz="1600" dirty="0"/>
          </a:p>
        </p:txBody>
      </p:sp>
      <p:sp>
        <p:nvSpPr>
          <p:cNvPr id="15" name="Text 13"/>
          <p:cNvSpPr/>
          <p:nvPr/>
        </p:nvSpPr>
        <p:spPr>
          <a:xfrm>
            <a:off x="7132320" y="4983480"/>
            <a:ext cx="4206240" cy="274320"/>
          </a:xfrm>
          <a:prstGeom prst="rect">
            <a:avLst/>
          </a:prstGeom>
          <a:noFill/>
          <a:ln/>
        </p:spPr>
        <p:txBody>
          <a:bodyPr wrap="square" lIns="0" tIns="0" rIns="0" bIns="0" rtlCol="0" anchor="ctr"/>
          <a:lstStyle/>
          <a:p>
            <a:pPr marL="0" indent="0">
              <a:buNone/>
            </a:pPr>
            <a:r>
              <a:rPr lang="en-US" sz="1100" i="1" dirty="0">
                <a:solidFill>
                  <a:srgbClr val="7A7066"/>
                </a:solidFill>
                <a:latin typeface="Calibri" pitchFamily="34" charset="0"/>
                <a:ea typeface="Calibri" pitchFamily="34" charset="-122"/>
                <a:cs typeface="Calibri" pitchFamily="34" charset="-120"/>
              </a:rPr>
              <a:t>Productos seleccionados para el modelo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274320"/>
          </a:xfrm>
          <a:prstGeom prst="rect">
            <a:avLst/>
          </a:prstGeom>
          <a:noFill/>
          <a:ln/>
        </p:spPr>
        <p:txBody>
          <a:bodyPr wrap="square" lIns="0" tIns="0" rIns="0" bIns="0"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METODOLOGÍA</a:t>
            </a:r>
            <a:endParaRPr lang="en-US" sz="1200" dirty="0"/>
          </a:p>
        </p:txBody>
      </p:sp>
      <p:sp>
        <p:nvSpPr>
          <p:cNvPr id="3" name="Text 1"/>
          <p:cNvSpPr/>
          <p:nvPr/>
        </p:nvSpPr>
        <p:spPr>
          <a:xfrm>
            <a:off x="822960" y="841248"/>
            <a:ext cx="10972800" cy="822960"/>
          </a:xfrm>
          <a:prstGeom prst="rect">
            <a:avLst/>
          </a:prstGeom>
          <a:noFill/>
          <a:ln/>
        </p:spPr>
        <p:txBody>
          <a:bodyPr wrap="square" lIns="0" tIns="0" rIns="0" bIns="0" rtlCol="0" anchor="ctr"/>
          <a:lstStyle/>
          <a:p>
            <a:pPr marL="0" indent="0">
              <a:buNone/>
            </a:pPr>
            <a:r>
              <a:rPr lang="en-US" sz="3200" b="1" dirty="0">
                <a:solidFill>
                  <a:srgbClr val="241C16"/>
                </a:solidFill>
                <a:latin typeface="Georgia" pitchFamily="34" charset="0"/>
                <a:ea typeface="Georgia" pitchFamily="34" charset="-122"/>
                <a:cs typeface="Georgia" pitchFamily="34" charset="-120"/>
              </a:rPr>
              <a:t>¿Por qué Programación Lineal y Método Simplex?</a:t>
            </a:r>
            <a:endParaRPr lang="en-US" sz="3200" dirty="0"/>
          </a:p>
        </p:txBody>
      </p:sp>
      <p:sp>
        <p:nvSpPr>
          <p:cNvPr id="4" name="Shape 2"/>
          <p:cNvSpPr/>
          <p:nvPr/>
        </p:nvSpPr>
        <p:spPr>
          <a:xfrm>
            <a:off x="822960" y="2103120"/>
            <a:ext cx="3429000" cy="3108960"/>
          </a:xfrm>
          <a:prstGeom prst="roundRect">
            <a:avLst>
              <a:gd name="adj" fmla="val 2941"/>
            </a:avLst>
          </a:prstGeom>
          <a:solidFill>
            <a:srgbClr val="F7F4F0"/>
          </a:solidFill>
          <a:ln w="12700">
            <a:solidFill>
              <a:srgbClr val="E6DFD6"/>
            </a:solidFill>
            <a:prstDash val="solid"/>
          </a:ln>
        </p:spPr>
      </p:sp>
      <p:sp>
        <p:nvSpPr>
          <p:cNvPr id="5" name="Shape 3"/>
          <p:cNvSpPr/>
          <p:nvPr/>
        </p:nvSpPr>
        <p:spPr>
          <a:xfrm>
            <a:off x="1143000" y="2468880"/>
            <a:ext cx="822960" cy="822960"/>
          </a:xfrm>
          <a:prstGeom prst="ellipse">
            <a:avLst/>
          </a:prstGeom>
          <a:solidFill>
            <a:srgbClr val="C0392B"/>
          </a:solidFill>
          <a:ln/>
        </p:spPr>
      </p:sp>
      <p:sp>
        <p:nvSpPr>
          <p:cNvPr id="6" name="Text 4"/>
          <p:cNvSpPr/>
          <p:nvPr/>
        </p:nvSpPr>
        <p:spPr>
          <a:xfrm>
            <a:off x="1143000" y="246888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1</a:t>
            </a:r>
            <a:endParaRPr lang="en-US" sz="2600" dirty="0"/>
          </a:p>
        </p:txBody>
      </p:sp>
      <p:sp>
        <p:nvSpPr>
          <p:cNvPr id="7" name="Text 5"/>
          <p:cNvSpPr/>
          <p:nvPr/>
        </p:nvSpPr>
        <p:spPr>
          <a:xfrm>
            <a:off x="1143000" y="3520440"/>
            <a:ext cx="2788920" cy="731520"/>
          </a:xfrm>
          <a:prstGeom prst="rect">
            <a:avLst/>
          </a:prstGeom>
          <a:noFill/>
          <a:ln/>
        </p:spPr>
        <p:txBody>
          <a:bodyPr wrap="square" lIns="0" tIns="0" rIns="0" bIns="0" rtlCol="0" anchor="ctr"/>
          <a:lstStyle/>
          <a:p>
            <a:pPr marL="0" indent="0">
              <a:buNone/>
            </a:pPr>
            <a:r>
              <a:rPr lang="en-US" sz="1800" b="1" dirty="0">
                <a:solidFill>
                  <a:srgbClr val="241C16"/>
                </a:solidFill>
                <a:latin typeface="Georgia" pitchFamily="34" charset="0"/>
                <a:ea typeface="Georgia" pitchFamily="34" charset="-122"/>
                <a:cs typeface="Georgia" pitchFamily="34" charset="-120"/>
              </a:rPr>
              <a:t>Objetivo medible y lineal</a:t>
            </a:r>
            <a:endParaRPr lang="en-US" sz="1800" dirty="0"/>
          </a:p>
        </p:txBody>
      </p:sp>
      <p:sp>
        <p:nvSpPr>
          <p:cNvPr id="8" name="Text 6"/>
          <p:cNvSpPr/>
          <p:nvPr/>
        </p:nvSpPr>
        <p:spPr>
          <a:xfrm>
            <a:off x="1143000" y="4206240"/>
            <a:ext cx="2834640" cy="914400"/>
          </a:xfrm>
          <a:prstGeom prst="rect">
            <a:avLst/>
          </a:prstGeom>
          <a:noFill/>
          <a:ln/>
        </p:spPr>
        <p:txBody>
          <a:bodyPr wrap="square" lIns="0" tIns="0" rIns="0" bIns="0" rtlCol="0" anchor="ctr"/>
          <a:lstStyle/>
          <a:p>
            <a:pPr marL="0" indent="0">
              <a:lnSpc>
                <a:spcPct val="115000"/>
              </a:lnSpc>
              <a:buNone/>
            </a:pPr>
            <a:r>
              <a:rPr lang="en-US" sz="1400" dirty="0">
                <a:solidFill>
                  <a:srgbClr val="2B2118"/>
                </a:solidFill>
                <a:latin typeface="Calibri" pitchFamily="34" charset="0"/>
                <a:ea typeface="Calibri" pitchFamily="34" charset="-122"/>
                <a:cs typeface="Calibri" pitchFamily="34" charset="-120"/>
              </a:rPr>
              <a:t>La ganancia se expresa como una función lineal que se desea maximizar.</a:t>
            </a:r>
            <a:endParaRPr lang="en-US" sz="1400" dirty="0"/>
          </a:p>
        </p:txBody>
      </p:sp>
      <p:sp>
        <p:nvSpPr>
          <p:cNvPr id="9" name="Shape 7"/>
          <p:cNvSpPr/>
          <p:nvPr/>
        </p:nvSpPr>
        <p:spPr>
          <a:xfrm>
            <a:off x="4526280" y="2103120"/>
            <a:ext cx="3429000" cy="3108960"/>
          </a:xfrm>
          <a:prstGeom prst="roundRect">
            <a:avLst>
              <a:gd name="adj" fmla="val 2941"/>
            </a:avLst>
          </a:prstGeom>
          <a:solidFill>
            <a:srgbClr val="F7F4F0"/>
          </a:solidFill>
          <a:ln w="12700">
            <a:solidFill>
              <a:srgbClr val="E6DFD6"/>
            </a:solidFill>
            <a:prstDash val="solid"/>
          </a:ln>
        </p:spPr>
      </p:sp>
      <p:sp>
        <p:nvSpPr>
          <p:cNvPr id="10" name="Shape 8"/>
          <p:cNvSpPr/>
          <p:nvPr/>
        </p:nvSpPr>
        <p:spPr>
          <a:xfrm>
            <a:off x="4846320" y="2468880"/>
            <a:ext cx="822960" cy="822960"/>
          </a:xfrm>
          <a:prstGeom prst="ellipse">
            <a:avLst/>
          </a:prstGeom>
          <a:solidFill>
            <a:srgbClr val="D98E04"/>
          </a:solidFill>
          <a:ln/>
        </p:spPr>
      </p:sp>
      <p:sp>
        <p:nvSpPr>
          <p:cNvPr id="11" name="Text 9"/>
          <p:cNvSpPr/>
          <p:nvPr/>
        </p:nvSpPr>
        <p:spPr>
          <a:xfrm>
            <a:off x="4846320" y="246888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2</a:t>
            </a:r>
            <a:endParaRPr lang="en-US" sz="2600" dirty="0"/>
          </a:p>
        </p:txBody>
      </p:sp>
      <p:sp>
        <p:nvSpPr>
          <p:cNvPr id="12" name="Text 10"/>
          <p:cNvSpPr/>
          <p:nvPr/>
        </p:nvSpPr>
        <p:spPr>
          <a:xfrm>
            <a:off x="4846320" y="3520440"/>
            <a:ext cx="2788920" cy="731520"/>
          </a:xfrm>
          <a:prstGeom prst="rect">
            <a:avLst/>
          </a:prstGeom>
          <a:noFill/>
          <a:ln/>
        </p:spPr>
        <p:txBody>
          <a:bodyPr wrap="square" lIns="0" tIns="0" rIns="0" bIns="0" rtlCol="0" anchor="ctr"/>
          <a:lstStyle/>
          <a:p>
            <a:pPr marL="0" indent="0">
              <a:buNone/>
            </a:pPr>
            <a:r>
              <a:rPr lang="en-US" sz="1800" b="1" dirty="0">
                <a:solidFill>
                  <a:srgbClr val="241C16"/>
                </a:solidFill>
                <a:latin typeface="Georgia" pitchFamily="34" charset="0"/>
                <a:ea typeface="Georgia" pitchFamily="34" charset="-122"/>
                <a:cs typeface="Georgia" pitchFamily="34" charset="-120"/>
              </a:rPr>
              <a:t>Recursos limitados</a:t>
            </a:r>
            <a:endParaRPr lang="en-US" sz="1800" dirty="0"/>
          </a:p>
        </p:txBody>
      </p:sp>
      <p:sp>
        <p:nvSpPr>
          <p:cNvPr id="13" name="Text 11"/>
          <p:cNvSpPr/>
          <p:nvPr/>
        </p:nvSpPr>
        <p:spPr>
          <a:xfrm>
            <a:off x="4846320" y="4206240"/>
            <a:ext cx="2834640" cy="914400"/>
          </a:xfrm>
          <a:prstGeom prst="rect">
            <a:avLst/>
          </a:prstGeom>
          <a:noFill/>
          <a:ln/>
        </p:spPr>
        <p:txBody>
          <a:bodyPr wrap="square" lIns="0" tIns="0" rIns="0" bIns="0" rtlCol="0" anchor="ctr"/>
          <a:lstStyle/>
          <a:p>
            <a:pPr marL="0" indent="0">
              <a:lnSpc>
                <a:spcPct val="115000"/>
              </a:lnSpc>
              <a:buNone/>
            </a:pPr>
            <a:r>
              <a:rPr lang="en-US" sz="1400" dirty="0">
                <a:solidFill>
                  <a:srgbClr val="2B2118"/>
                </a:solidFill>
                <a:latin typeface="Calibri" pitchFamily="34" charset="0"/>
                <a:ea typeface="Calibri" pitchFamily="34" charset="-122"/>
                <a:cs typeface="Calibri" pitchFamily="34" charset="-120"/>
              </a:rPr>
              <a:t>Masa, queso y tiempo imponen restricciones lineales de capacidad.</a:t>
            </a:r>
            <a:endParaRPr lang="en-US" sz="1400" dirty="0"/>
          </a:p>
        </p:txBody>
      </p:sp>
      <p:sp>
        <p:nvSpPr>
          <p:cNvPr id="14" name="Shape 12"/>
          <p:cNvSpPr/>
          <p:nvPr/>
        </p:nvSpPr>
        <p:spPr>
          <a:xfrm>
            <a:off x="8229600" y="2103120"/>
            <a:ext cx="3429000" cy="3108960"/>
          </a:xfrm>
          <a:prstGeom prst="roundRect">
            <a:avLst>
              <a:gd name="adj" fmla="val 2941"/>
            </a:avLst>
          </a:prstGeom>
          <a:solidFill>
            <a:srgbClr val="F7F4F0"/>
          </a:solidFill>
          <a:ln w="12700">
            <a:solidFill>
              <a:srgbClr val="E6DFD6"/>
            </a:solidFill>
            <a:prstDash val="solid"/>
          </a:ln>
        </p:spPr>
      </p:sp>
      <p:sp>
        <p:nvSpPr>
          <p:cNvPr id="15" name="Shape 13"/>
          <p:cNvSpPr/>
          <p:nvPr/>
        </p:nvSpPr>
        <p:spPr>
          <a:xfrm>
            <a:off x="8549640" y="2468880"/>
            <a:ext cx="822960" cy="822960"/>
          </a:xfrm>
          <a:prstGeom prst="ellipse">
            <a:avLst/>
          </a:prstGeom>
          <a:solidFill>
            <a:srgbClr val="C0392B"/>
          </a:solidFill>
          <a:ln/>
        </p:spPr>
      </p:sp>
      <p:sp>
        <p:nvSpPr>
          <p:cNvPr id="16" name="Text 14"/>
          <p:cNvSpPr/>
          <p:nvPr/>
        </p:nvSpPr>
        <p:spPr>
          <a:xfrm>
            <a:off x="8549640" y="246888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17" name="Text 15"/>
          <p:cNvSpPr/>
          <p:nvPr/>
        </p:nvSpPr>
        <p:spPr>
          <a:xfrm>
            <a:off x="8549640" y="3520440"/>
            <a:ext cx="2788920" cy="731520"/>
          </a:xfrm>
          <a:prstGeom prst="rect">
            <a:avLst/>
          </a:prstGeom>
          <a:noFill/>
          <a:ln/>
        </p:spPr>
        <p:txBody>
          <a:bodyPr wrap="square" lIns="0" tIns="0" rIns="0" bIns="0" rtlCol="0" anchor="ctr"/>
          <a:lstStyle/>
          <a:p>
            <a:pPr marL="0" indent="0">
              <a:buNone/>
            </a:pPr>
            <a:r>
              <a:rPr lang="en-US" sz="1800" b="1" dirty="0">
                <a:solidFill>
                  <a:srgbClr val="241C16"/>
                </a:solidFill>
                <a:latin typeface="Georgia" pitchFamily="34" charset="0"/>
                <a:ea typeface="Georgia" pitchFamily="34" charset="-122"/>
                <a:cs typeface="Georgia" pitchFamily="34" charset="-120"/>
              </a:rPr>
              <a:t>Decisión de mezcla</a:t>
            </a:r>
            <a:endParaRPr lang="en-US" sz="1800" dirty="0"/>
          </a:p>
        </p:txBody>
      </p:sp>
      <p:sp>
        <p:nvSpPr>
          <p:cNvPr id="18" name="Text 16"/>
          <p:cNvSpPr/>
          <p:nvPr/>
        </p:nvSpPr>
        <p:spPr>
          <a:xfrm>
            <a:off x="8549640" y="4206240"/>
            <a:ext cx="2834640" cy="914400"/>
          </a:xfrm>
          <a:prstGeom prst="rect">
            <a:avLst/>
          </a:prstGeom>
          <a:noFill/>
          <a:ln/>
        </p:spPr>
        <p:txBody>
          <a:bodyPr wrap="square" lIns="0" tIns="0" rIns="0" bIns="0" rtlCol="0" anchor="ctr"/>
          <a:lstStyle/>
          <a:p>
            <a:pPr marL="0" indent="0">
              <a:lnSpc>
                <a:spcPct val="115000"/>
              </a:lnSpc>
              <a:buNone/>
            </a:pPr>
            <a:r>
              <a:rPr lang="en-US" sz="1400" dirty="0">
                <a:solidFill>
                  <a:srgbClr val="2B2118"/>
                </a:solidFill>
                <a:latin typeface="Calibri" pitchFamily="34" charset="0"/>
                <a:ea typeface="Calibri" pitchFamily="34" charset="-122"/>
                <a:cs typeface="Calibri" pitchFamily="34" charset="-120"/>
              </a:rPr>
              <a:t>Es un problema clásico de mezcla de producción, ideal para el Simplex.</a:t>
            </a:r>
            <a:endParaRPr lang="en-US" sz="1400" dirty="0"/>
          </a:p>
        </p:txBody>
      </p:sp>
      <p:sp>
        <p:nvSpPr>
          <p:cNvPr id="19" name="Text 17"/>
          <p:cNvSpPr/>
          <p:nvPr/>
        </p:nvSpPr>
        <p:spPr>
          <a:xfrm>
            <a:off x="822960" y="5486400"/>
            <a:ext cx="10515600" cy="640080"/>
          </a:xfrm>
          <a:prstGeom prst="rect">
            <a:avLst/>
          </a:prstGeom>
          <a:noFill/>
          <a:ln/>
        </p:spPr>
        <p:txBody>
          <a:bodyPr wrap="square" lIns="0" tIns="0" rIns="0" bIns="0" rtlCol="0" anchor="ctr"/>
          <a:lstStyle/>
          <a:p>
            <a:pPr marL="0" indent="0" algn="ctr">
              <a:buNone/>
            </a:pPr>
            <a:r>
              <a:rPr lang="en-US" sz="1400" i="1" dirty="0">
                <a:solidFill>
                  <a:srgbClr val="7A7066"/>
                </a:solidFill>
                <a:latin typeface="Calibri" pitchFamily="34" charset="0"/>
                <a:ea typeface="Calibri" pitchFamily="34" charset="-122"/>
                <a:cs typeface="Calibri" pitchFamily="34" charset="-120"/>
              </a:rPr>
              <a:t>El Simplex parte de una solución factible y recorre los vértices de la región factible mejorando la ganancia en cada iteración hasta alcanzar el óptimo.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5486400" cy="274320"/>
          </a:xfrm>
          <a:prstGeom prst="rect">
            <a:avLst/>
          </a:prstGeom>
          <a:noFill/>
          <a:ln/>
        </p:spPr>
        <p:txBody>
          <a:bodyPr wrap="square" lIns="0" tIns="0" rIns="0" bIns="0"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FORMULACIÓN</a:t>
            </a:r>
            <a:endParaRPr lang="en-US" sz="1200" dirty="0"/>
          </a:p>
        </p:txBody>
      </p:sp>
      <p:sp>
        <p:nvSpPr>
          <p:cNvPr id="3" name="Text 1"/>
          <p:cNvSpPr/>
          <p:nvPr/>
        </p:nvSpPr>
        <p:spPr>
          <a:xfrm>
            <a:off x="822960" y="795528"/>
            <a:ext cx="10515600" cy="822960"/>
          </a:xfrm>
          <a:prstGeom prst="rect">
            <a:avLst/>
          </a:prstGeom>
          <a:noFill/>
          <a:ln/>
        </p:spPr>
        <p:txBody>
          <a:bodyPr wrap="square" lIns="0" tIns="0" rIns="0" bIns="0" rtlCol="0" anchor="ctr"/>
          <a:lstStyle/>
          <a:p>
            <a:pPr marL="0" indent="0">
              <a:buNone/>
            </a:pPr>
            <a:r>
              <a:rPr lang="en-US" sz="3200" b="1" dirty="0">
                <a:solidFill>
                  <a:srgbClr val="241C16"/>
                </a:solidFill>
                <a:latin typeface="Georgia" pitchFamily="34" charset="0"/>
                <a:ea typeface="Georgia" pitchFamily="34" charset="-122"/>
                <a:cs typeface="Georgia" pitchFamily="34" charset="-120"/>
              </a:rPr>
              <a:t>El modelo matemático</a:t>
            </a:r>
            <a:endParaRPr lang="en-US" sz="3200" dirty="0"/>
          </a:p>
        </p:txBody>
      </p:sp>
      <p:sp>
        <p:nvSpPr>
          <p:cNvPr id="4" name="Shape 2"/>
          <p:cNvSpPr/>
          <p:nvPr/>
        </p:nvSpPr>
        <p:spPr>
          <a:xfrm>
            <a:off x="822960" y="1783080"/>
            <a:ext cx="5212080" cy="1737360"/>
          </a:xfrm>
          <a:prstGeom prst="roundRect">
            <a:avLst>
              <a:gd name="adj" fmla="val 4211"/>
            </a:avLst>
          </a:prstGeom>
          <a:solidFill>
            <a:srgbClr val="F7F4F0"/>
          </a:solidFill>
          <a:ln w="12700">
            <a:solidFill>
              <a:srgbClr val="E6DFD6"/>
            </a:solidFill>
            <a:prstDash val="solid"/>
          </a:ln>
        </p:spPr>
      </p:sp>
      <p:sp>
        <p:nvSpPr>
          <p:cNvPr id="5" name="Text 3"/>
          <p:cNvSpPr/>
          <p:nvPr/>
        </p:nvSpPr>
        <p:spPr>
          <a:xfrm>
            <a:off x="1051560" y="1938528"/>
            <a:ext cx="4572000" cy="274320"/>
          </a:xfrm>
          <a:prstGeom prst="rect">
            <a:avLst/>
          </a:prstGeom>
          <a:noFill/>
          <a:ln/>
        </p:spPr>
        <p:txBody>
          <a:bodyPr wrap="square" lIns="0" tIns="0" rIns="0" bIns="0" rtlCol="0" anchor="ctr"/>
          <a:lstStyle/>
          <a:p>
            <a:pPr marL="0" indent="0">
              <a:buNone/>
            </a:pPr>
            <a:r>
              <a:rPr lang="en-US" sz="1200" b="1" kern="0" spc="100" dirty="0">
                <a:solidFill>
                  <a:srgbClr val="C0392B"/>
                </a:solidFill>
                <a:latin typeface="Calibri" pitchFamily="34" charset="0"/>
                <a:ea typeface="Calibri" pitchFamily="34" charset="-122"/>
                <a:cs typeface="Calibri" pitchFamily="34" charset="-120"/>
              </a:rPr>
              <a:t>VARIABLES DE DECISIÓN</a:t>
            </a:r>
            <a:endParaRPr lang="en-US" sz="1200" dirty="0"/>
          </a:p>
        </p:txBody>
      </p:sp>
      <p:sp>
        <p:nvSpPr>
          <p:cNvPr id="6" name="Text 4"/>
          <p:cNvSpPr/>
          <p:nvPr/>
        </p:nvSpPr>
        <p:spPr>
          <a:xfrm>
            <a:off x="1051560" y="2331720"/>
            <a:ext cx="4846320" cy="457200"/>
          </a:xfrm>
          <a:prstGeom prst="rect">
            <a:avLst/>
          </a:prstGeom>
          <a:noFill/>
          <a:ln/>
        </p:spPr>
        <p:txBody>
          <a:bodyPr wrap="square" lIns="0" tIns="0" rIns="0" bIns="0" rtlCol="0" anchor="ctr"/>
          <a:lstStyle/>
          <a:p>
            <a:pPr marL="0" indent="0">
              <a:buNone/>
            </a:pPr>
            <a:r>
              <a:rPr lang="en-US" sz="1500" b="1" dirty="0">
                <a:solidFill>
                  <a:srgbClr val="241C16"/>
                </a:solidFill>
                <a:latin typeface="Consolas" pitchFamily="34" charset="0"/>
                <a:ea typeface="Consolas" pitchFamily="34" charset="-122"/>
                <a:cs typeface="Consolas" pitchFamily="34" charset="-120"/>
              </a:rPr>
              <a:t>X₁</a:t>
            </a:r>
            <a:r>
              <a:rPr lang="en-US" sz="1500" dirty="0">
                <a:solidFill>
                  <a:srgbClr val="2B2118"/>
                </a:solidFill>
                <a:latin typeface="Consolas" pitchFamily="34" charset="0"/>
                <a:ea typeface="Consolas" pitchFamily="34" charset="-122"/>
                <a:cs typeface="Consolas" pitchFamily="34" charset="-120"/>
              </a:rPr>
              <a:t> = Pizzas Gigantes Supremas / día</a:t>
            </a:r>
            <a:endParaRPr lang="en-US" sz="1500" dirty="0"/>
          </a:p>
        </p:txBody>
      </p:sp>
      <p:sp>
        <p:nvSpPr>
          <p:cNvPr id="7" name="Text 5"/>
          <p:cNvSpPr/>
          <p:nvPr/>
        </p:nvSpPr>
        <p:spPr>
          <a:xfrm>
            <a:off x="1051560" y="2834640"/>
            <a:ext cx="4846320" cy="457200"/>
          </a:xfrm>
          <a:prstGeom prst="rect">
            <a:avLst/>
          </a:prstGeom>
          <a:noFill/>
          <a:ln/>
        </p:spPr>
        <p:txBody>
          <a:bodyPr wrap="square" lIns="0" tIns="0" rIns="0" bIns="0" rtlCol="0" anchor="ctr"/>
          <a:lstStyle/>
          <a:p>
            <a:pPr marL="0" indent="0">
              <a:buNone/>
            </a:pPr>
            <a:r>
              <a:rPr lang="en-US" sz="1500" b="1" dirty="0">
                <a:solidFill>
                  <a:srgbClr val="241C16"/>
                </a:solidFill>
                <a:latin typeface="Consolas" pitchFamily="34" charset="0"/>
                <a:ea typeface="Consolas" pitchFamily="34" charset="-122"/>
                <a:cs typeface="Consolas" pitchFamily="34" charset="-120"/>
              </a:rPr>
              <a:t>X₂</a:t>
            </a:r>
            <a:r>
              <a:rPr lang="en-US" sz="1500" dirty="0">
                <a:solidFill>
                  <a:srgbClr val="2B2118"/>
                </a:solidFill>
                <a:latin typeface="Consolas" pitchFamily="34" charset="0"/>
                <a:ea typeface="Consolas" pitchFamily="34" charset="-122"/>
                <a:cs typeface="Consolas" pitchFamily="34" charset="-120"/>
              </a:rPr>
              <a:t> = Pizzas Personales Supremas / día</a:t>
            </a:r>
            <a:endParaRPr lang="en-US" sz="1500" dirty="0"/>
          </a:p>
        </p:txBody>
      </p:sp>
      <p:sp>
        <p:nvSpPr>
          <p:cNvPr id="8" name="Shape 6"/>
          <p:cNvSpPr/>
          <p:nvPr/>
        </p:nvSpPr>
        <p:spPr>
          <a:xfrm>
            <a:off x="822960" y="3703320"/>
            <a:ext cx="5212080" cy="2377440"/>
          </a:xfrm>
          <a:prstGeom prst="roundRect">
            <a:avLst>
              <a:gd name="adj" fmla="val 3077"/>
            </a:avLst>
          </a:prstGeom>
          <a:solidFill>
            <a:srgbClr val="241C16"/>
          </a:solidFill>
          <a:ln/>
          <a:effectLst>
            <a:outerShdw blurRad="101600" dist="38100" dir="8100000" algn="bl" rotWithShape="0">
              <a:srgbClr val="000000">
                <a:alpha val="12000"/>
              </a:srgbClr>
            </a:outerShdw>
          </a:effectLst>
        </p:spPr>
      </p:sp>
      <p:sp>
        <p:nvSpPr>
          <p:cNvPr id="9" name="Text 7"/>
          <p:cNvSpPr/>
          <p:nvPr/>
        </p:nvSpPr>
        <p:spPr>
          <a:xfrm>
            <a:off x="1051560" y="3886200"/>
            <a:ext cx="4572000" cy="274320"/>
          </a:xfrm>
          <a:prstGeom prst="rect">
            <a:avLst/>
          </a:prstGeom>
          <a:noFill/>
          <a:ln/>
        </p:spPr>
        <p:txBody>
          <a:bodyPr wrap="square" lIns="0" tIns="0" rIns="0" bIns="0" rtlCol="0" anchor="ctr"/>
          <a:lstStyle/>
          <a:p>
            <a:pPr marL="0" indent="0">
              <a:buNone/>
            </a:pPr>
            <a:r>
              <a:rPr lang="en-US" sz="1200" b="1" kern="0" spc="100" dirty="0">
                <a:solidFill>
                  <a:srgbClr val="D98E04"/>
                </a:solidFill>
                <a:latin typeface="Calibri" pitchFamily="34" charset="0"/>
                <a:ea typeface="Calibri" pitchFamily="34" charset="-122"/>
                <a:cs typeface="Calibri" pitchFamily="34" charset="-120"/>
              </a:rPr>
              <a:t>FUNCIÓN OBJETIVO</a:t>
            </a:r>
            <a:endParaRPr lang="en-US" sz="1200" dirty="0"/>
          </a:p>
        </p:txBody>
      </p:sp>
      <p:sp>
        <p:nvSpPr>
          <p:cNvPr id="10" name="Text 8"/>
          <p:cNvSpPr/>
          <p:nvPr/>
        </p:nvSpPr>
        <p:spPr>
          <a:xfrm>
            <a:off x="1051560" y="4224528"/>
            <a:ext cx="4572000" cy="365760"/>
          </a:xfrm>
          <a:prstGeom prst="rect">
            <a:avLst/>
          </a:prstGeom>
          <a:noFill/>
          <a:ln/>
        </p:spPr>
        <p:txBody>
          <a:bodyPr wrap="square" lIns="0" tIns="0" rIns="0" bIns="0" rtlCol="0" anchor="ctr"/>
          <a:lstStyle/>
          <a:p>
            <a:pPr marL="0" indent="0">
              <a:buNone/>
            </a:pPr>
            <a:r>
              <a:rPr lang="en-US" sz="1500" i="1" dirty="0">
                <a:solidFill>
                  <a:srgbClr val="D9CFC4"/>
                </a:solidFill>
                <a:latin typeface="Calibri" pitchFamily="34" charset="0"/>
                <a:ea typeface="Calibri" pitchFamily="34" charset="-122"/>
                <a:cs typeface="Calibri" pitchFamily="34" charset="-120"/>
              </a:rPr>
              <a:t>Maximizar</a:t>
            </a:r>
            <a:endParaRPr lang="en-US" sz="1500" dirty="0"/>
          </a:p>
        </p:txBody>
      </p:sp>
      <p:sp>
        <p:nvSpPr>
          <p:cNvPr id="11" name="Text 9"/>
          <p:cNvSpPr/>
          <p:nvPr/>
        </p:nvSpPr>
        <p:spPr>
          <a:xfrm>
            <a:off x="1051560" y="4572000"/>
            <a:ext cx="4846320" cy="822960"/>
          </a:xfrm>
          <a:prstGeom prst="rect">
            <a:avLst/>
          </a:prstGeom>
          <a:noFill/>
          <a:ln/>
        </p:spPr>
        <p:txBody>
          <a:bodyPr wrap="square" lIns="0" tIns="0" rIns="0" bIns="0" rtlCol="0" anchor="ctr"/>
          <a:lstStyle/>
          <a:p>
            <a:pPr marL="0" indent="0">
              <a:buNone/>
            </a:pPr>
            <a:r>
              <a:rPr lang="en-US" sz="3000" b="1" dirty="0">
                <a:solidFill>
                  <a:srgbClr val="FFFFFF"/>
                </a:solidFill>
                <a:latin typeface="Consolas" pitchFamily="34" charset="0"/>
                <a:ea typeface="Consolas" pitchFamily="34" charset="-122"/>
                <a:cs typeface="Consolas" pitchFamily="34" charset="-120"/>
              </a:rPr>
              <a:t>Z = 5X₁ + 2X₂</a:t>
            </a:r>
            <a:endParaRPr lang="en-US" sz="3000" dirty="0"/>
          </a:p>
        </p:txBody>
      </p:sp>
      <p:sp>
        <p:nvSpPr>
          <p:cNvPr id="12" name="Text 10"/>
          <p:cNvSpPr/>
          <p:nvPr/>
        </p:nvSpPr>
        <p:spPr>
          <a:xfrm>
            <a:off x="1051560" y="5440680"/>
            <a:ext cx="4846320" cy="365760"/>
          </a:xfrm>
          <a:prstGeom prst="rect">
            <a:avLst/>
          </a:prstGeom>
          <a:noFill/>
          <a:ln/>
        </p:spPr>
        <p:txBody>
          <a:bodyPr wrap="square" lIns="0" tIns="0" rIns="0" bIns="0" rtlCol="0" anchor="ctr"/>
          <a:lstStyle/>
          <a:p>
            <a:pPr marL="0" indent="0">
              <a:buNone/>
            </a:pPr>
            <a:r>
              <a:rPr lang="en-US" sz="1300" dirty="0">
                <a:solidFill>
                  <a:srgbClr val="9A8F84"/>
                </a:solidFill>
                <a:latin typeface="Calibri" pitchFamily="34" charset="0"/>
                <a:ea typeface="Calibri" pitchFamily="34" charset="-122"/>
                <a:cs typeface="Calibri" pitchFamily="34" charset="-120"/>
              </a:rPr>
              <a:t>Ganancia total diaria, en dólares</a:t>
            </a:r>
            <a:endParaRPr lang="en-US" sz="1300" dirty="0"/>
          </a:p>
        </p:txBody>
      </p:sp>
      <p:sp>
        <p:nvSpPr>
          <p:cNvPr id="13" name="Shape 11"/>
          <p:cNvSpPr/>
          <p:nvPr/>
        </p:nvSpPr>
        <p:spPr>
          <a:xfrm>
            <a:off x="6355080" y="1783080"/>
            <a:ext cx="4983480" cy="4297680"/>
          </a:xfrm>
          <a:prstGeom prst="roundRect">
            <a:avLst>
              <a:gd name="adj" fmla="val 1702"/>
            </a:avLst>
          </a:prstGeom>
          <a:solidFill>
            <a:srgbClr val="FFFFFF"/>
          </a:solidFill>
          <a:ln w="12700">
            <a:solidFill>
              <a:srgbClr val="E6DFD6"/>
            </a:solidFill>
            <a:prstDash val="solid"/>
          </a:ln>
          <a:effectLst>
            <a:outerShdw blurRad="101600" dist="38100" dir="8100000" algn="bl" rotWithShape="0">
              <a:srgbClr val="000000">
                <a:alpha val="12000"/>
              </a:srgbClr>
            </a:outerShdw>
          </a:effectLst>
        </p:spPr>
      </p:sp>
      <p:sp>
        <p:nvSpPr>
          <p:cNvPr id="14" name="Text 12"/>
          <p:cNvSpPr/>
          <p:nvPr/>
        </p:nvSpPr>
        <p:spPr>
          <a:xfrm>
            <a:off x="6629400" y="1965960"/>
            <a:ext cx="4572000" cy="274320"/>
          </a:xfrm>
          <a:prstGeom prst="rect">
            <a:avLst/>
          </a:prstGeom>
          <a:noFill/>
          <a:ln/>
        </p:spPr>
        <p:txBody>
          <a:bodyPr wrap="square" lIns="0" tIns="0" rIns="0" bIns="0" rtlCol="0" anchor="ctr"/>
          <a:lstStyle/>
          <a:p>
            <a:pPr marL="0" indent="0">
              <a:buNone/>
            </a:pPr>
            <a:r>
              <a:rPr lang="en-US" sz="1200" b="1" kern="0" spc="100" dirty="0">
                <a:solidFill>
                  <a:srgbClr val="C0392B"/>
                </a:solidFill>
                <a:latin typeface="Calibri" pitchFamily="34" charset="0"/>
                <a:ea typeface="Calibri" pitchFamily="34" charset="-122"/>
                <a:cs typeface="Calibri" pitchFamily="34" charset="-120"/>
              </a:rPr>
              <a:t>RESTRICCIONES</a:t>
            </a:r>
            <a:endParaRPr lang="en-US" sz="1200" dirty="0"/>
          </a:p>
        </p:txBody>
      </p:sp>
      <p:sp>
        <p:nvSpPr>
          <p:cNvPr id="15" name="Text 13"/>
          <p:cNvSpPr/>
          <p:nvPr/>
        </p:nvSpPr>
        <p:spPr>
          <a:xfrm>
            <a:off x="6629400" y="2377440"/>
            <a:ext cx="1828800" cy="457200"/>
          </a:xfrm>
          <a:prstGeom prst="rect">
            <a:avLst/>
          </a:prstGeom>
          <a:noFill/>
          <a:ln/>
        </p:spPr>
        <p:txBody>
          <a:bodyPr wrap="square" lIns="0" tIns="0" rIns="0" bIns="0" rtlCol="0" anchor="ctr"/>
          <a:lstStyle/>
          <a:p>
            <a:pPr marL="0" indent="0">
              <a:buNone/>
            </a:pPr>
            <a:r>
              <a:rPr lang="en-US" sz="1400" b="1" dirty="0">
                <a:solidFill>
                  <a:srgbClr val="7A7066"/>
                </a:solidFill>
                <a:latin typeface="Calibri" pitchFamily="34" charset="0"/>
                <a:ea typeface="Calibri" pitchFamily="34" charset="-122"/>
                <a:cs typeface="Calibri" pitchFamily="34" charset="-120"/>
              </a:rPr>
              <a:t>Masa</a:t>
            </a:r>
            <a:endParaRPr lang="en-US" sz="1400" dirty="0"/>
          </a:p>
        </p:txBody>
      </p:sp>
      <p:sp>
        <p:nvSpPr>
          <p:cNvPr id="16" name="Text 14"/>
          <p:cNvSpPr/>
          <p:nvPr/>
        </p:nvSpPr>
        <p:spPr>
          <a:xfrm>
            <a:off x="8275320" y="2377440"/>
            <a:ext cx="2971800" cy="457200"/>
          </a:xfrm>
          <a:prstGeom prst="rect">
            <a:avLst/>
          </a:prstGeom>
          <a:noFill/>
          <a:ln/>
        </p:spPr>
        <p:txBody>
          <a:bodyPr wrap="square" lIns="0" tIns="0" rIns="0" bIns="0" rtlCol="0" anchor="ctr"/>
          <a:lstStyle/>
          <a:p>
            <a:pPr marL="0" indent="0">
              <a:buNone/>
            </a:pPr>
            <a:r>
              <a:rPr lang="en-US" sz="1700" b="1" dirty="0">
                <a:solidFill>
                  <a:srgbClr val="241C16"/>
                </a:solidFill>
                <a:latin typeface="Consolas" pitchFamily="34" charset="0"/>
                <a:ea typeface="Consolas" pitchFamily="34" charset="-122"/>
                <a:cs typeface="Consolas" pitchFamily="34" charset="-120"/>
              </a:rPr>
              <a:t>2X₁ + X₂ ≤ 60</a:t>
            </a:r>
            <a:endParaRPr lang="en-US" sz="1700" dirty="0"/>
          </a:p>
        </p:txBody>
      </p:sp>
      <p:sp>
        <p:nvSpPr>
          <p:cNvPr id="17" name="Shape 15"/>
          <p:cNvSpPr/>
          <p:nvPr/>
        </p:nvSpPr>
        <p:spPr>
          <a:xfrm>
            <a:off x="6629400" y="3035808"/>
            <a:ext cx="4572000" cy="0"/>
          </a:xfrm>
          <a:prstGeom prst="line">
            <a:avLst/>
          </a:prstGeom>
          <a:noFill/>
          <a:ln w="12700">
            <a:solidFill>
              <a:srgbClr val="E6DFD6"/>
            </a:solidFill>
            <a:prstDash val="solid"/>
          </a:ln>
        </p:spPr>
      </p:sp>
      <p:sp>
        <p:nvSpPr>
          <p:cNvPr id="18" name="Text 16"/>
          <p:cNvSpPr/>
          <p:nvPr/>
        </p:nvSpPr>
        <p:spPr>
          <a:xfrm>
            <a:off x="6629400" y="3273552"/>
            <a:ext cx="1828800" cy="457200"/>
          </a:xfrm>
          <a:prstGeom prst="rect">
            <a:avLst/>
          </a:prstGeom>
          <a:noFill/>
          <a:ln/>
        </p:spPr>
        <p:txBody>
          <a:bodyPr wrap="square" lIns="0" tIns="0" rIns="0" bIns="0" rtlCol="0" anchor="ctr"/>
          <a:lstStyle/>
          <a:p>
            <a:pPr marL="0" indent="0">
              <a:buNone/>
            </a:pPr>
            <a:r>
              <a:rPr lang="en-US" sz="1400" b="1" dirty="0">
                <a:solidFill>
                  <a:srgbClr val="7A7066"/>
                </a:solidFill>
                <a:latin typeface="Calibri" pitchFamily="34" charset="0"/>
                <a:ea typeface="Calibri" pitchFamily="34" charset="-122"/>
                <a:cs typeface="Calibri" pitchFamily="34" charset="-120"/>
              </a:rPr>
              <a:t>Queso</a:t>
            </a:r>
            <a:endParaRPr lang="en-US" sz="1400" dirty="0"/>
          </a:p>
        </p:txBody>
      </p:sp>
      <p:sp>
        <p:nvSpPr>
          <p:cNvPr id="19" name="Text 17"/>
          <p:cNvSpPr/>
          <p:nvPr/>
        </p:nvSpPr>
        <p:spPr>
          <a:xfrm>
            <a:off x="8275320" y="3273552"/>
            <a:ext cx="2971800" cy="457200"/>
          </a:xfrm>
          <a:prstGeom prst="rect">
            <a:avLst/>
          </a:prstGeom>
          <a:noFill/>
          <a:ln/>
        </p:spPr>
        <p:txBody>
          <a:bodyPr wrap="square" lIns="0" tIns="0" rIns="0" bIns="0" rtlCol="0" anchor="ctr"/>
          <a:lstStyle/>
          <a:p>
            <a:pPr marL="0" indent="0">
              <a:buNone/>
            </a:pPr>
            <a:r>
              <a:rPr lang="en-US" sz="1700" b="1" dirty="0">
                <a:solidFill>
                  <a:srgbClr val="241C16"/>
                </a:solidFill>
                <a:latin typeface="Consolas" pitchFamily="34" charset="0"/>
                <a:ea typeface="Consolas" pitchFamily="34" charset="-122"/>
                <a:cs typeface="Consolas" pitchFamily="34" charset="-120"/>
              </a:rPr>
              <a:t>1.5X₁ + 0.5X₂ ≤ 40</a:t>
            </a:r>
            <a:endParaRPr lang="en-US" sz="1700" dirty="0"/>
          </a:p>
        </p:txBody>
      </p:sp>
      <p:sp>
        <p:nvSpPr>
          <p:cNvPr id="20" name="Shape 18"/>
          <p:cNvSpPr/>
          <p:nvPr/>
        </p:nvSpPr>
        <p:spPr>
          <a:xfrm>
            <a:off x="6629400" y="3931920"/>
            <a:ext cx="4572000" cy="0"/>
          </a:xfrm>
          <a:prstGeom prst="line">
            <a:avLst/>
          </a:prstGeom>
          <a:noFill/>
          <a:ln w="12700">
            <a:solidFill>
              <a:srgbClr val="E6DFD6"/>
            </a:solidFill>
            <a:prstDash val="solid"/>
          </a:ln>
        </p:spPr>
      </p:sp>
      <p:sp>
        <p:nvSpPr>
          <p:cNvPr id="21" name="Text 19"/>
          <p:cNvSpPr/>
          <p:nvPr/>
        </p:nvSpPr>
        <p:spPr>
          <a:xfrm>
            <a:off x="6629400" y="4169664"/>
            <a:ext cx="1828800" cy="457200"/>
          </a:xfrm>
          <a:prstGeom prst="rect">
            <a:avLst/>
          </a:prstGeom>
          <a:noFill/>
          <a:ln/>
        </p:spPr>
        <p:txBody>
          <a:bodyPr wrap="square" lIns="0" tIns="0" rIns="0" bIns="0" rtlCol="0" anchor="ctr"/>
          <a:lstStyle/>
          <a:p>
            <a:pPr marL="0" indent="0">
              <a:buNone/>
            </a:pPr>
            <a:r>
              <a:rPr lang="en-US" sz="1400" b="1" dirty="0">
                <a:solidFill>
                  <a:srgbClr val="7A7066"/>
                </a:solidFill>
                <a:latin typeface="Calibri" pitchFamily="34" charset="0"/>
                <a:ea typeface="Calibri" pitchFamily="34" charset="-122"/>
                <a:cs typeface="Calibri" pitchFamily="34" charset="-120"/>
              </a:rPr>
              <a:t>Tiempo</a:t>
            </a:r>
            <a:endParaRPr lang="en-US" sz="1400" dirty="0"/>
          </a:p>
        </p:txBody>
      </p:sp>
      <p:sp>
        <p:nvSpPr>
          <p:cNvPr id="22" name="Text 20"/>
          <p:cNvSpPr/>
          <p:nvPr/>
        </p:nvSpPr>
        <p:spPr>
          <a:xfrm>
            <a:off x="8275320" y="4169664"/>
            <a:ext cx="2971800" cy="457200"/>
          </a:xfrm>
          <a:prstGeom prst="rect">
            <a:avLst/>
          </a:prstGeom>
          <a:noFill/>
          <a:ln/>
        </p:spPr>
        <p:txBody>
          <a:bodyPr wrap="square" lIns="0" tIns="0" rIns="0" bIns="0" rtlCol="0" anchor="ctr"/>
          <a:lstStyle/>
          <a:p>
            <a:pPr marL="0" indent="0">
              <a:buNone/>
            </a:pPr>
            <a:r>
              <a:rPr lang="en-US" sz="1700" b="1" dirty="0">
                <a:solidFill>
                  <a:srgbClr val="241C16"/>
                </a:solidFill>
                <a:latin typeface="Consolas" pitchFamily="34" charset="0"/>
                <a:ea typeface="Consolas" pitchFamily="34" charset="-122"/>
                <a:cs typeface="Consolas" pitchFamily="34" charset="-120"/>
              </a:rPr>
              <a:t>0.5X₁ + 0.25X₂ ≤ 20</a:t>
            </a:r>
            <a:endParaRPr lang="en-US" sz="1700" dirty="0"/>
          </a:p>
        </p:txBody>
      </p:sp>
      <p:sp>
        <p:nvSpPr>
          <p:cNvPr id="23" name="Shape 21"/>
          <p:cNvSpPr/>
          <p:nvPr/>
        </p:nvSpPr>
        <p:spPr>
          <a:xfrm>
            <a:off x="6629400" y="4828032"/>
            <a:ext cx="4572000" cy="0"/>
          </a:xfrm>
          <a:prstGeom prst="line">
            <a:avLst/>
          </a:prstGeom>
          <a:noFill/>
          <a:ln w="12700">
            <a:solidFill>
              <a:srgbClr val="E6DFD6"/>
            </a:solidFill>
            <a:prstDash val="solid"/>
          </a:ln>
        </p:spPr>
      </p:sp>
      <p:sp>
        <p:nvSpPr>
          <p:cNvPr id="24" name="Text 22"/>
          <p:cNvSpPr/>
          <p:nvPr/>
        </p:nvSpPr>
        <p:spPr>
          <a:xfrm>
            <a:off x="6629400" y="5065776"/>
            <a:ext cx="1828800" cy="457200"/>
          </a:xfrm>
          <a:prstGeom prst="rect">
            <a:avLst/>
          </a:prstGeom>
          <a:noFill/>
          <a:ln/>
        </p:spPr>
        <p:txBody>
          <a:bodyPr wrap="square" lIns="0" tIns="0" rIns="0" bIns="0" rtlCol="0" anchor="ctr"/>
          <a:lstStyle/>
          <a:p>
            <a:pPr marL="0" indent="0">
              <a:buNone/>
            </a:pPr>
            <a:r>
              <a:rPr lang="en-US" sz="1400" b="1" dirty="0">
                <a:solidFill>
                  <a:srgbClr val="7A7066"/>
                </a:solidFill>
                <a:latin typeface="Calibri" pitchFamily="34" charset="0"/>
                <a:ea typeface="Calibri" pitchFamily="34" charset="-122"/>
                <a:cs typeface="Calibri" pitchFamily="34" charset="-120"/>
              </a:rPr>
              <a:t>No negatividad</a:t>
            </a:r>
            <a:endParaRPr lang="en-US" sz="1400" dirty="0"/>
          </a:p>
        </p:txBody>
      </p:sp>
      <p:sp>
        <p:nvSpPr>
          <p:cNvPr id="25" name="Text 23"/>
          <p:cNvSpPr/>
          <p:nvPr/>
        </p:nvSpPr>
        <p:spPr>
          <a:xfrm>
            <a:off x="8275320" y="5065776"/>
            <a:ext cx="2971800" cy="457200"/>
          </a:xfrm>
          <a:prstGeom prst="rect">
            <a:avLst/>
          </a:prstGeom>
          <a:noFill/>
          <a:ln/>
        </p:spPr>
        <p:txBody>
          <a:bodyPr wrap="square" lIns="0" tIns="0" rIns="0" bIns="0" rtlCol="0" anchor="ctr"/>
          <a:lstStyle/>
          <a:p>
            <a:pPr marL="0" indent="0">
              <a:buNone/>
            </a:pPr>
            <a:r>
              <a:rPr lang="en-US" sz="1700" b="1" dirty="0">
                <a:solidFill>
                  <a:srgbClr val="241C16"/>
                </a:solidFill>
                <a:latin typeface="Consolas" pitchFamily="34" charset="0"/>
                <a:ea typeface="Consolas" pitchFamily="34" charset="-122"/>
                <a:cs typeface="Consolas" pitchFamily="34" charset="-120"/>
              </a:rPr>
              <a:t>X₁, X₂ ≥ 0</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274320"/>
          </a:xfrm>
          <a:prstGeom prst="rect">
            <a:avLst/>
          </a:prstGeom>
          <a:noFill/>
          <a:ln/>
        </p:spPr>
        <p:txBody>
          <a:bodyPr wrap="square" lIns="0" tIns="0" rIns="0" bIns="0"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VALIDACIÓN DEL MODELO</a:t>
            </a:r>
            <a:endParaRPr lang="en-US" sz="1200" dirty="0"/>
          </a:p>
        </p:txBody>
      </p:sp>
      <p:sp>
        <p:nvSpPr>
          <p:cNvPr id="3" name="Text 1"/>
          <p:cNvSpPr/>
          <p:nvPr/>
        </p:nvSpPr>
        <p:spPr>
          <a:xfrm>
            <a:off x="822960" y="841248"/>
            <a:ext cx="10515600" cy="822960"/>
          </a:xfrm>
          <a:prstGeom prst="rect">
            <a:avLst/>
          </a:prstGeom>
          <a:noFill/>
          <a:ln/>
        </p:spPr>
        <p:txBody>
          <a:bodyPr wrap="square" lIns="0" tIns="0" rIns="0" bIns="0" rtlCol="0" anchor="ctr"/>
          <a:lstStyle/>
          <a:p>
            <a:pPr marL="0" indent="0">
              <a:buNone/>
            </a:pPr>
            <a:r>
              <a:rPr lang="en-US" sz="3200" b="1" dirty="0">
                <a:solidFill>
                  <a:srgbClr val="241C16"/>
                </a:solidFill>
                <a:latin typeface="Georgia" pitchFamily="34" charset="0"/>
                <a:ea typeface="Georgia" pitchFamily="34" charset="-122"/>
                <a:cs typeface="Georgia" pitchFamily="34" charset="-120"/>
              </a:rPr>
              <a:t>Análisis dimensional</a:t>
            </a:r>
            <a:endParaRPr lang="en-US" sz="3200" dirty="0"/>
          </a:p>
        </p:txBody>
      </p:sp>
      <p:sp>
        <p:nvSpPr>
          <p:cNvPr id="4" name="Text 2"/>
          <p:cNvSpPr/>
          <p:nvPr/>
        </p:nvSpPr>
        <p:spPr>
          <a:xfrm>
            <a:off x="822960" y="1691640"/>
            <a:ext cx="10058400" cy="457200"/>
          </a:xfrm>
          <a:prstGeom prst="rect">
            <a:avLst/>
          </a:prstGeom>
          <a:noFill/>
          <a:ln/>
        </p:spPr>
        <p:txBody>
          <a:bodyPr wrap="square" lIns="0" tIns="0" rIns="0" bIns="0" rtlCol="0" anchor="ctr"/>
          <a:lstStyle/>
          <a:p>
            <a:pPr marL="0" indent="0">
              <a:buNone/>
            </a:pPr>
            <a:r>
              <a:rPr lang="en-US" sz="1500" dirty="0">
                <a:solidFill>
                  <a:srgbClr val="2B2118"/>
                </a:solidFill>
                <a:latin typeface="Calibri" pitchFamily="34" charset="0"/>
                <a:ea typeface="Calibri" pitchFamily="34" charset="-122"/>
                <a:cs typeface="Calibri" pitchFamily="34" charset="-120"/>
              </a:rPr>
              <a:t>Cada término se verifica para confirmar que las unidades son coherentes en ambos lados.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331720"/>
          <a:ext cx="10515600" cy="2770632"/>
        </p:xfrm>
        <a:graphic>
          <a:graphicData uri="http://schemas.openxmlformats.org/drawingml/2006/table">
            <a:tbl>
              <a:tblPr/>
              <a:tblGrid>
                <a:gridCol w="2377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0292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Elemento</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241C16"/>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Operación dimensional</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241C16"/>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Resultado</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241C16"/>
                    </a:solidFill>
                  </a:tcPr>
                </a:tc>
                <a:extLst>
                  <a:ext uri="{0D108BD9-81ED-4DB2-BD59-A6C34878D82A}">
                    <a16:rowId xmlns:a16="http://schemas.microsoft.com/office/drawing/2014/main" val="10000"/>
                  </a:ext>
                </a:extLst>
              </a:tr>
              <a:tr h="566928">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Objetivo (Z)</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($/pizza) × (pizzas/día)</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$/día</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Masa</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(porciones/pizza) × (pizzas/día)</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porciones/día ≤ 60</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Queso</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(libras/pizza) × (pizzas/día)</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libras/día ≤ 40</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Tiempo</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(horas/pizza) × (pizzas/día)</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2B2118"/>
                          </a:solidFill>
                          <a:latin typeface="Calibri" pitchFamily="34" charset="0"/>
                          <a:ea typeface="Calibri" pitchFamily="34" charset="-122"/>
                          <a:cs typeface="Calibri" pitchFamily="34" charset="-120"/>
                        </a:rPr>
                        <a:t>horas/día ≤ 20</a:t>
                      </a:r>
                      <a:endParaRPr lang="en-US" sz="150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3"/>
          <p:cNvSpPr/>
          <p:nvPr/>
        </p:nvSpPr>
        <p:spPr>
          <a:xfrm>
            <a:off x="822960" y="5669280"/>
            <a:ext cx="10515600" cy="777240"/>
          </a:xfrm>
          <a:prstGeom prst="roundRect">
            <a:avLst>
              <a:gd name="adj" fmla="val 9412"/>
            </a:avLst>
          </a:prstGeom>
          <a:solidFill>
            <a:srgbClr val="F7F4F0"/>
          </a:solidFill>
          <a:ln w="19050">
            <a:solidFill>
              <a:srgbClr val="5B8C5A"/>
            </a:solidFill>
            <a:prstDash val="solid"/>
          </a:ln>
        </p:spPr>
      </p:sp>
      <p:sp>
        <p:nvSpPr>
          <p:cNvPr id="7" name="Text 4"/>
          <p:cNvSpPr/>
          <p:nvPr/>
        </p:nvSpPr>
        <p:spPr>
          <a:xfrm>
            <a:off x="1097280" y="5669280"/>
            <a:ext cx="9966960" cy="777240"/>
          </a:xfrm>
          <a:prstGeom prst="rect">
            <a:avLst/>
          </a:prstGeom>
          <a:noFill/>
          <a:ln/>
        </p:spPr>
        <p:txBody>
          <a:bodyPr wrap="square" lIns="0" tIns="0" rIns="0" bIns="0" rtlCol="0" anchor="ctr"/>
          <a:lstStyle/>
          <a:p>
            <a:pPr marL="0" indent="0">
              <a:buNone/>
            </a:pPr>
            <a:r>
              <a:rPr lang="en-US" sz="1400" b="1" dirty="0">
                <a:solidFill>
                  <a:srgbClr val="5B8C5A"/>
                </a:solidFill>
                <a:latin typeface="Calibri" pitchFamily="34" charset="0"/>
                <a:ea typeface="Calibri" pitchFamily="34" charset="-122"/>
                <a:cs typeface="Calibri" pitchFamily="34" charset="-120"/>
              </a:rPr>
              <a:t>Conclusión:  </a:t>
            </a:r>
            <a:r>
              <a:rPr lang="en-US" sz="1400" dirty="0">
                <a:solidFill>
                  <a:srgbClr val="2B2118"/>
                </a:solidFill>
                <a:latin typeface="Calibri" pitchFamily="34" charset="0"/>
                <a:ea typeface="Calibri" pitchFamily="34" charset="-122"/>
                <a:cs typeface="Calibri" pitchFamily="34" charset="-120"/>
              </a:rPr>
              <a:t>en cada restricción el lado izquierdo y el derecho comparten la misma unidad, por lo que el modelo es dimensionalmente correcto.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274320"/>
          </a:xfrm>
          <a:prstGeom prst="rect">
            <a:avLst/>
          </a:prstGeom>
          <a:noFill/>
          <a:ln/>
        </p:spPr>
        <p:txBody>
          <a:bodyPr wrap="square" lIns="0" tIns="0" rIns="0" bIns="0"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RESULTADOS</a:t>
            </a:r>
            <a:endParaRPr lang="en-US" sz="1200" dirty="0"/>
          </a:p>
        </p:txBody>
      </p:sp>
      <p:sp>
        <p:nvSpPr>
          <p:cNvPr id="3" name="Text 1"/>
          <p:cNvSpPr/>
          <p:nvPr/>
        </p:nvSpPr>
        <p:spPr>
          <a:xfrm>
            <a:off x="822960" y="841248"/>
            <a:ext cx="10515600" cy="822960"/>
          </a:xfrm>
          <a:prstGeom prst="rect">
            <a:avLst/>
          </a:prstGeom>
          <a:noFill/>
          <a:ln/>
        </p:spPr>
        <p:txBody>
          <a:bodyPr wrap="square" lIns="0" tIns="0" rIns="0" bIns="0" rtlCol="0" anchor="ctr"/>
          <a:lstStyle/>
          <a:p>
            <a:pPr marL="0" indent="0">
              <a:buNone/>
            </a:pPr>
            <a:r>
              <a:rPr lang="en-US" sz="3200" b="1" dirty="0">
                <a:solidFill>
                  <a:srgbClr val="241C16"/>
                </a:solidFill>
                <a:latin typeface="Georgia" pitchFamily="34" charset="0"/>
                <a:ea typeface="Georgia" pitchFamily="34" charset="-122"/>
                <a:cs typeface="Georgia" pitchFamily="34" charset="-120"/>
              </a:rPr>
              <a:t>Solución óptima</a:t>
            </a:r>
            <a:endParaRPr lang="en-US" sz="3200" dirty="0"/>
          </a:p>
        </p:txBody>
      </p:sp>
      <p:sp>
        <p:nvSpPr>
          <p:cNvPr id="4" name="Shape 2"/>
          <p:cNvSpPr/>
          <p:nvPr/>
        </p:nvSpPr>
        <p:spPr>
          <a:xfrm>
            <a:off x="822960" y="1828800"/>
            <a:ext cx="2286000" cy="1828800"/>
          </a:xfrm>
          <a:prstGeom prst="roundRect">
            <a:avLst>
              <a:gd name="adj" fmla="val 5000"/>
            </a:avLst>
          </a:prstGeom>
          <a:solidFill>
            <a:srgbClr val="F7F4F0"/>
          </a:solidFill>
          <a:ln w="12700">
            <a:solidFill>
              <a:srgbClr val="E6DFD6"/>
            </a:solidFill>
            <a:prstDash val="solid"/>
          </a:ln>
        </p:spPr>
      </p:sp>
      <p:sp>
        <p:nvSpPr>
          <p:cNvPr id="5" name="Text 3"/>
          <p:cNvSpPr/>
          <p:nvPr/>
        </p:nvSpPr>
        <p:spPr>
          <a:xfrm>
            <a:off x="822960" y="2011680"/>
            <a:ext cx="2286000" cy="1005840"/>
          </a:xfrm>
          <a:prstGeom prst="rect">
            <a:avLst/>
          </a:prstGeom>
          <a:noFill/>
          <a:ln/>
        </p:spPr>
        <p:txBody>
          <a:bodyPr wrap="square" lIns="0" tIns="0" rIns="0" bIns="0" rtlCol="0" anchor="ctr"/>
          <a:lstStyle/>
          <a:p>
            <a:pPr marL="0" indent="0" algn="ctr">
              <a:buNone/>
            </a:pPr>
            <a:r>
              <a:rPr lang="en-US" sz="5200" b="1" dirty="0">
                <a:solidFill>
                  <a:srgbClr val="C0392B"/>
                </a:solidFill>
                <a:latin typeface="Georgia" pitchFamily="34" charset="0"/>
                <a:ea typeface="Georgia" pitchFamily="34" charset="-122"/>
                <a:cs typeface="Georgia" pitchFamily="34" charset="-120"/>
              </a:rPr>
              <a:t>20</a:t>
            </a:r>
            <a:endParaRPr lang="en-US" sz="5200" dirty="0"/>
          </a:p>
        </p:txBody>
      </p:sp>
      <p:sp>
        <p:nvSpPr>
          <p:cNvPr id="6" name="Text 4"/>
          <p:cNvSpPr/>
          <p:nvPr/>
        </p:nvSpPr>
        <p:spPr>
          <a:xfrm>
            <a:off x="914400" y="3063240"/>
            <a:ext cx="2103120" cy="502920"/>
          </a:xfrm>
          <a:prstGeom prst="rect">
            <a:avLst/>
          </a:prstGeom>
          <a:noFill/>
          <a:ln/>
        </p:spPr>
        <p:txBody>
          <a:bodyPr wrap="square" lIns="0" tIns="0" rIns="0" bIns="0" rtlCol="0" anchor="ctr"/>
          <a:lstStyle/>
          <a:p>
            <a:pPr marL="0" indent="0" algn="ctr">
              <a:buNone/>
            </a:pPr>
            <a:r>
              <a:rPr lang="en-US" sz="1300" dirty="0">
                <a:solidFill>
                  <a:srgbClr val="7A7066"/>
                </a:solidFill>
                <a:latin typeface="Calibri" pitchFamily="34" charset="0"/>
                <a:ea typeface="Calibri" pitchFamily="34" charset="-122"/>
                <a:cs typeface="Calibri" pitchFamily="34" charset="-120"/>
              </a:rPr>
              <a:t>Pizzas Gigantes (X₁)</a:t>
            </a:r>
            <a:endParaRPr lang="en-US" sz="1300" dirty="0"/>
          </a:p>
        </p:txBody>
      </p:sp>
      <p:sp>
        <p:nvSpPr>
          <p:cNvPr id="7" name="Shape 5"/>
          <p:cNvSpPr/>
          <p:nvPr/>
        </p:nvSpPr>
        <p:spPr>
          <a:xfrm>
            <a:off x="3246120" y="1828800"/>
            <a:ext cx="2286000" cy="1828800"/>
          </a:xfrm>
          <a:prstGeom prst="roundRect">
            <a:avLst>
              <a:gd name="adj" fmla="val 5000"/>
            </a:avLst>
          </a:prstGeom>
          <a:solidFill>
            <a:srgbClr val="F7F4F0"/>
          </a:solidFill>
          <a:ln w="12700">
            <a:solidFill>
              <a:srgbClr val="E6DFD6"/>
            </a:solidFill>
            <a:prstDash val="solid"/>
          </a:ln>
        </p:spPr>
      </p:sp>
      <p:sp>
        <p:nvSpPr>
          <p:cNvPr id="8" name="Text 6"/>
          <p:cNvSpPr/>
          <p:nvPr/>
        </p:nvSpPr>
        <p:spPr>
          <a:xfrm>
            <a:off x="3246120" y="2011680"/>
            <a:ext cx="2286000" cy="1005840"/>
          </a:xfrm>
          <a:prstGeom prst="rect">
            <a:avLst/>
          </a:prstGeom>
          <a:noFill/>
          <a:ln/>
        </p:spPr>
        <p:txBody>
          <a:bodyPr wrap="square" lIns="0" tIns="0" rIns="0" bIns="0" rtlCol="0" anchor="ctr"/>
          <a:lstStyle/>
          <a:p>
            <a:pPr marL="0" indent="0" algn="ctr">
              <a:buNone/>
            </a:pPr>
            <a:r>
              <a:rPr lang="en-US" sz="5200" b="1" dirty="0">
                <a:solidFill>
                  <a:srgbClr val="D98E04"/>
                </a:solidFill>
                <a:latin typeface="Georgia" pitchFamily="34" charset="0"/>
                <a:ea typeface="Georgia" pitchFamily="34" charset="-122"/>
                <a:cs typeface="Georgia" pitchFamily="34" charset="-120"/>
              </a:rPr>
              <a:t>20</a:t>
            </a:r>
            <a:endParaRPr lang="en-US" sz="5200" dirty="0"/>
          </a:p>
        </p:txBody>
      </p:sp>
      <p:sp>
        <p:nvSpPr>
          <p:cNvPr id="9" name="Text 7"/>
          <p:cNvSpPr/>
          <p:nvPr/>
        </p:nvSpPr>
        <p:spPr>
          <a:xfrm>
            <a:off x="3337560" y="3063240"/>
            <a:ext cx="2103120" cy="502920"/>
          </a:xfrm>
          <a:prstGeom prst="rect">
            <a:avLst/>
          </a:prstGeom>
          <a:noFill/>
          <a:ln/>
        </p:spPr>
        <p:txBody>
          <a:bodyPr wrap="square" lIns="0" tIns="0" rIns="0" bIns="0" rtlCol="0" anchor="ctr"/>
          <a:lstStyle/>
          <a:p>
            <a:pPr marL="0" indent="0" algn="ctr">
              <a:buNone/>
            </a:pPr>
            <a:r>
              <a:rPr lang="en-US" sz="1300" dirty="0">
                <a:solidFill>
                  <a:srgbClr val="7A7066"/>
                </a:solidFill>
                <a:latin typeface="Calibri" pitchFamily="34" charset="0"/>
                <a:ea typeface="Calibri" pitchFamily="34" charset="-122"/>
                <a:cs typeface="Calibri" pitchFamily="34" charset="-120"/>
              </a:rPr>
              <a:t>Pizzas Personales (X₂)</a:t>
            </a:r>
            <a:endParaRPr lang="en-US" sz="1300" dirty="0"/>
          </a:p>
        </p:txBody>
      </p:sp>
      <p:sp>
        <p:nvSpPr>
          <p:cNvPr id="10" name="Shape 8"/>
          <p:cNvSpPr/>
          <p:nvPr/>
        </p:nvSpPr>
        <p:spPr>
          <a:xfrm>
            <a:off x="5669280" y="1828800"/>
            <a:ext cx="2286000" cy="1828800"/>
          </a:xfrm>
          <a:prstGeom prst="roundRect">
            <a:avLst>
              <a:gd name="adj" fmla="val 5000"/>
            </a:avLst>
          </a:prstGeom>
          <a:solidFill>
            <a:srgbClr val="241C16"/>
          </a:solidFill>
          <a:ln w="12700">
            <a:solidFill>
              <a:srgbClr val="241C16"/>
            </a:solidFill>
            <a:prstDash val="solid"/>
          </a:ln>
          <a:effectLst>
            <a:outerShdw blurRad="101600" dist="38100" dir="8100000" algn="bl" rotWithShape="0">
              <a:srgbClr val="000000">
                <a:alpha val="12000"/>
              </a:srgbClr>
            </a:outerShdw>
          </a:effectLst>
        </p:spPr>
      </p:sp>
      <p:sp>
        <p:nvSpPr>
          <p:cNvPr id="11" name="Text 9"/>
          <p:cNvSpPr/>
          <p:nvPr/>
        </p:nvSpPr>
        <p:spPr>
          <a:xfrm>
            <a:off x="5669280" y="2011680"/>
            <a:ext cx="2286000" cy="1005840"/>
          </a:xfrm>
          <a:prstGeom prst="rect">
            <a:avLst/>
          </a:prstGeom>
          <a:noFill/>
          <a:ln/>
        </p:spPr>
        <p:txBody>
          <a:bodyPr wrap="square" lIns="0" tIns="0" rIns="0" bIns="0" rtlCol="0" anchor="ctr"/>
          <a:lstStyle/>
          <a:p>
            <a:pPr marL="0" indent="0" algn="ctr">
              <a:buNone/>
            </a:pPr>
            <a:r>
              <a:rPr lang="en-US" sz="4400" b="1" dirty="0">
                <a:solidFill>
                  <a:srgbClr val="D98E04"/>
                </a:solidFill>
                <a:latin typeface="Georgia" pitchFamily="34" charset="0"/>
                <a:ea typeface="Georgia" pitchFamily="34" charset="-122"/>
                <a:cs typeface="Georgia" pitchFamily="34" charset="-120"/>
              </a:rPr>
              <a:t>$140</a:t>
            </a:r>
            <a:endParaRPr lang="en-US" sz="4400" dirty="0"/>
          </a:p>
        </p:txBody>
      </p:sp>
      <p:sp>
        <p:nvSpPr>
          <p:cNvPr id="12" name="Text 10"/>
          <p:cNvSpPr/>
          <p:nvPr/>
        </p:nvSpPr>
        <p:spPr>
          <a:xfrm>
            <a:off x="5760720" y="3063240"/>
            <a:ext cx="2103120" cy="502920"/>
          </a:xfrm>
          <a:prstGeom prst="rect">
            <a:avLst/>
          </a:prstGeom>
          <a:noFill/>
          <a:ln/>
        </p:spPr>
        <p:txBody>
          <a:bodyPr wrap="square" lIns="0" tIns="0" rIns="0" bIns="0" rtlCol="0" anchor="ctr"/>
          <a:lstStyle/>
          <a:p>
            <a:pPr marL="0" indent="0" algn="ctr">
              <a:buNone/>
            </a:pPr>
            <a:r>
              <a:rPr lang="en-US" sz="1300" dirty="0">
                <a:solidFill>
                  <a:srgbClr val="D9CFC4"/>
                </a:solidFill>
                <a:latin typeface="Calibri" pitchFamily="34" charset="0"/>
                <a:ea typeface="Calibri" pitchFamily="34" charset="-122"/>
                <a:cs typeface="Calibri" pitchFamily="34" charset="-120"/>
              </a:rPr>
              <a:t>Ganancia máxima / día</a:t>
            </a:r>
            <a:endParaRPr lang="en-US" sz="1300" dirty="0"/>
          </a:p>
        </p:txBody>
      </p:sp>
      <p:sp>
        <p:nvSpPr>
          <p:cNvPr id="13" name="Text 11"/>
          <p:cNvSpPr/>
          <p:nvPr/>
        </p:nvSpPr>
        <p:spPr>
          <a:xfrm>
            <a:off x="8229600" y="1783080"/>
            <a:ext cx="3840480" cy="457200"/>
          </a:xfrm>
          <a:prstGeom prst="rect">
            <a:avLst/>
          </a:prstGeom>
          <a:noFill/>
          <a:ln/>
        </p:spPr>
        <p:txBody>
          <a:bodyPr wrap="square" lIns="0" tIns="0" rIns="0" bIns="0" rtlCol="0" anchor="ctr"/>
          <a:lstStyle/>
          <a:p>
            <a:pPr marL="0" indent="0">
              <a:buNone/>
            </a:pPr>
            <a:r>
              <a:rPr lang="en-US" sz="1300" b="1" dirty="0">
                <a:solidFill>
                  <a:srgbClr val="241C16"/>
                </a:solidFill>
                <a:latin typeface="Calibri" pitchFamily="34" charset="0"/>
                <a:ea typeface="Calibri" pitchFamily="34" charset="-122"/>
                <a:cs typeface="Calibri" pitchFamily="34" charset="-120"/>
              </a:rPr>
              <a:t>Uso de recursos (utilizado vs disponible)</a:t>
            </a:r>
            <a:endParaRPr lang="en-US" sz="1300" dirty="0"/>
          </a:p>
        </p:txBody>
      </p:sp>
      <p:graphicFrame>
        <p:nvGraphicFramePr>
          <p:cNvPr id="14" name="Chart 0"/>
          <p:cNvGraphicFramePr/>
          <p:nvPr/>
        </p:nvGraphicFramePr>
        <p:xfrm>
          <a:off x="8229600" y="2240280"/>
          <a:ext cx="374904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2"/>
          <p:cNvSpPr/>
          <p:nvPr/>
        </p:nvSpPr>
        <p:spPr>
          <a:xfrm>
            <a:off x="822960" y="4297680"/>
            <a:ext cx="7040880" cy="1874520"/>
          </a:xfrm>
          <a:prstGeom prst="roundRect">
            <a:avLst>
              <a:gd name="adj" fmla="val 3902"/>
            </a:avLst>
          </a:prstGeom>
          <a:solidFill>
            <a:srgbClr val="FFFFFF"/>
          </a:solidFill>
          <a:ln w="12700">
            <a:solidFill>
              <a:srgbClr val="E6DFD6"/>
            </a:solidFill>
            <a:prstDash val="solid"/>
          </a:ln>
        </p:spPr>
      </p:sp>
      <p:sp>
        <p:nvSpPr>
          <p:cNvPr id="16" name="Text 13"/>
          <p:cNvSpPr/>
          <p:nvPr/>
        </p:nvSpPr>
        <p:spPr>
          <a:xfrm>
            <a:off x="1097280" y="4462272"/>
            <a:ext cx="6492240" cy="365760"/>
          </a:xfrm>
          <a:prstGeom prst="rect">
            <a:avLst/>
          </a:prstGeom>
          <a:noFill/>
          <a:ln/>
        </p:spPr>
        <p:txBody>
          <a:bodyPr wrap="square" lIns="0" tIns="0" rIns="0" bIns="0" rtlCol="0" anchor="ctr"/>
          <a:lstStyle/>
          <a:p>
            <a:pPr marL="0" indent="0">
              <a:buNone/>
            </a:pPr>
            <a:r>
              <a:rPr lang="en-US" sz="1700" b="1" dirty="0">
                <a:solidFill>
                  <a:srgbClr val="241C16"/>
                </a:solidFill>
                <a:latin typeface="Georgia" pitchFamily="34" charset="0"/>
                <a:ea typeface="Georgia" pitchFamily="34" charset="-122"/>
                <a:cs typeface="Georgia" pitchFamily="34" charset="-120"/>
              </a:rPr>
              <a:t>Lectura de los resultados</a:t>
            </a:r>
            <a:endParaRPr lang="en-US" sz="1700" dirty="0"/>
          </a:p>
        </p:txBody>
      </p:sp>
      <p:sp>
        <p:nvSpPr>
          <p:cNvPr id="17" name="Text 14"/>
          <p:cNvSpPr/>
          <p:nvPr/>
        </p:nvSpPr>
        <p:spPr>
          <a:xfrm>
            <a:off x="1097280" y="4892040"/>
            <a:ext cx="6492240" cy="1188720"/>
          </a:xfrm>
          <a:prstGeom prst="rect">
            <a:avLst/>
          </a:prstGeom>
          <a:noFill/>
          <a:ln/>
        </p:spPr>
        <p:txBody>
          <a:bodyPr wrap="square" lIns="0" tIns="0" rIns="0" bIns="0" rtlCol="0" anchor="ctr"/>
          <a:lstStyle/>
          <a:p>
            <a:pPr marL="342900" indent="-342900">
              <a:spcAft>
                <a:spcPts val="500"/>
              </a:spcAft>
              <a:buSzPct val="100000"/>
              <a:buChar char="•"/>
            </a:pPr>
            <a:r>
              <a:rPr lang="en-US" sz="1350" dirty="0">
                <a:solidFill>
                  <a:srgbClr val="2B2118"/>
                </a:solidFill>
                <a:latin typeface="Calibri" pitchFamily="34" charset="0"/>
                <a:ea typeface="Calibri" pitchFamily="34" charset="-122"/>
                <a:cs typeface="Calibri" pitchFamily="34" charset="-120"/>
              </a:rPr>
              <a:t>Masa y queso se utilizan al 100 %: son los cuellos de botella que limitan la producción.</a:t>
            </a:r>
            <a:endParaRPr lang="en-US" sz="1350" dirty="0"/>
          </a:p>
          <a:p>
            <a:pPr marL="342900" indent="-342900">
              <a:spcAft>
                <a:spcPts val="500"/>
              </a:spcAft>
              <a:buSzPct val="100000"/>
              <a:buChar char="•"/>
            </a:pPr>
            <a:r>
              <a:rPr lang="en-US" sz="1350" dirty="0">
                <a:solidFill>
                  <a:srgbClr val="2B2118"/>
                </a:solidFill>
                <a:latin typeface="Calibri" pitchFamily="34" charset="0"/>
                <a:ea typeface="Calibri" pitchFamily="34" charset="-122"/>
                <a:cs typeface="Calibri" pitchFamily="34" charset="-120"/>
              </a:rPr>
              <a:t>Del tiempo solo se usan 15 de 20 horas-hombre: queda una holgura de 5 horas.</a:t>
            </a:r>
            <a:endParaRPr lang="en-US" sz="1350" dirty="0"/>
          </a:p>
          <a:p>
            <a:pPr marL="342900" indent="-342900">
              <a:spcAft>
                <a:spcPts val="500"/>
              </a:spcAft>
              <a:buSzPct val="100000"/>
              <a:buChar char="•"/>
            </a:pPr>
            <a:r>
              <a:rPr lang="en-US" sz="1350" dirty="0">
                <a:solidFill>
                  <a:srgbClr val="2B2118"/>
                </a:solidFill>
                <a:latin typeface="Calibri" pitchFamily="34" charset="0"/>
                <a:ea typeface="Calibri" pitchFamily="34" charset="-122"/>
                <a:cs typeface="Calibri" pitchFamily="34" charset="-120"/>
              </a:rPr>
              <a:t>La mejor mezcla es producir 20 pizzas de cada tipo, con una ganancia de $140 al día.</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02920"/>
            <a:ext cx="5486400" cy="274320"/>
          </a:xfrm>
          <a:prstGeom prst="rect">
            <a:avLst/>
          </a:prstGeom>
          <a:noFill/>
          <a:ln/>
        </p:spPr>
        <p:txBody>
          <a:bodyPr wrap="square" lIns="0" tIns="0" rIns="0" bIns="0"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COMPROBACIÓN</a:t>
            </a:r>
            <a:endParaRPr lang="en-US" sz="1200" dirty="0"/>
          </a:p>
        </p:txBody>
      </p:sp>
      <p:sp>
        <p:nvSpPr>
          <p:cNvPr id="3" name="Text 1"/>
          <p:cNvSpPr/>
          <p:nvPr/>
        </p:nvSpPr>
        <p:spPr>
          <a:xfrm>
            <a:off x="822960" y="795528"/>
            <a:ext cx="10972800" cy="822960"/>
          </a:xfrm>
          <a:prstGeom prst="rect">
            <a:avLst/>
          </a:prstGeom>
          <a:noFill/>
          <a:ln/>
        </p:spPr>
        <p:txBody>
          <a:bodyPr wrap="square" lIns="0" tIns="0" rIns="0" bIns="0" rtlCol="0" anchor="ctr"/>
          <a:lstStyle/>
          <a:p>
            <a:pPr marL="0" indent="0">
              <a:buNone/>
            </a:pPr>
            <a:r>
              <a:rPr lang="en-US" sz="3200" b="1" dirty="0">
                <a:solidFill>
                  <a:srgbClr val="241C16"/>
                </a:solidFill>
                <a:latin typeface="Georgia" pitchFamily="34" charset="0"/>
                <a:ea typeface="Georgia" pitchFamily="34" charset="-122"/>
                <a:cs typeface="Georgia" pitchFamily="34" charset="-120"/>
              </a:rPr>
              <a:t>Verificación por el Método Gráfico</a:t>
            </a:r>
            <a:endParaRPr lang="en-US" sz="3200" dirty="0"/>
          </a:p>
        </p:txBody>
      </p:sp>
      <p:pic>
        <p:nvPicPr>
          <p:cNvPr id="4" name="Image 0" descr="grafico.png"/>
          <p:cNvPicPr>
            <a:picLocks noChangeAspect="1"/>
          </p:cNvPicPr>
          <p:nvPr/>
        </p:nvPicPr>
        <p:blipFill>
          <a:blip r:embed="rId3"/>
          <a:stretch>
            <a:fillRect/>
          </a:stretch>
        </p:blipFill>
        <p:spPr>
          <a:xfrm>
            <a:off x="731520" y="1783080"/>
            <a:ext cx="5797796" cy="4480560"/>
          </a:xfrm>
          <a:prstGeom prst="rect">
            <a:avLst/>
          </a:prstGeom>
        </p:spPr>
      </p:pic>
      <p:sp>
        <p:nvSpPr>
          <p:cNvPr id="5" name="Text 2"/>
          <p:cNvSpPr/>
          <p:nvPr/>
        </p:nvSpPr>
        <p:spPr>
          <a:xfrm>
            <a:off x="6986516" y="1874520"/>
            <a:ext cx="4534924" cy="731520"/>
          </a:xfrm>
          <a:prstGeom prst="rect">
            <a:avLst/>
          </a:prstGeom>
          <a:noFill/>
          <a:ln/>
        </p:spPr>
        <p:txBody>
          <a:bodyPr wrap="square" lIns="0" tIns="0" rIns="0" bIns="0" rtlCol="0" anchor="ctr"/>
          <a:lstStyle/>
          <a:p>
            <a:pPr marL="0" indent="0">
              <a:lnSpc>
                <a:spcPct val="115000"/>
              </a:lnSpc>
              <a:buNone/>
            </a:pPr>
            <a:r>
              <a:rPr lang="en-US" sz="1500" dirty="0">
                <a:solidFill>
                  <a:srgbClr val="2B2118"/>
                </a:solidFill>
                <a:latin typeface="Calibri" pitchFamily="34" charset="0"/>
                <a:ea typeface="Calibri" pitchFamily="34" charset="-122"/>
                <a:cs typeface="Calibri" pitchFamily="34" charset="-120"/>
              </a:rPr>
              <a:t>Al evaluar la función objetivo en los vértices de la región factible:</a:t>
            </a:r>
            <a:endParaRPr lang="en-US" sz="1500" dirty="0"/>
          </a:p>
        </p:txBody>
      </p:sp>
      <p:sp>
        <p:nvSpPr>
          <p:cNvPr id="6" name="Text 3"/>
          <p:cNvSpPr/>
          <p:nvPr/>
        </p:nvSpPr>
        <p:spPr>
          <a:xfrm>
            <a:off x="6986516" y="2697480"/>
            <a:ext cx="1828800" cy="457200"/>
          </a:xfrm>
          <a:prstGeom prst="rect">
            <a:avLst/>
          </a:prstGeom>
          <a:noFill/>
          <a:ln/>
        </p:spPr>
        <p:txBody>
          <a:bodyPr wrap="square" lIns="0" tIns="0" rIns="0" bIns="0" rtlCol="0" anchor="ctr"/>
          <a:lstStyle/>
          <a:p>
            <a:pPr marL="0" indent="0">
              <a:buNone/>
            </a:pPr>
            <a:r>
              <a:rPr lang="en-US" sz="1500" dirty="0">
                <a:solidFill>
                  <a:srgbClr val="2B2118"/>
                </a:solidFill>
                <a:latin typeface="Consolas" pitchFamily="34" charset="0"/>
                <a:ea typeface="Consolas" pitchFamily="34" charset="-122"/>
                <a:cs typeface="Consolas" pitchFamily="34" charset="-120"/>
              </a:rPr>
              <a:t>(0, 0)</a:t>
            </a:r>
            <a:endParaRPr lang="en-US" sz="1500" dirty="0"/>
          </a:p>
        </p:txBody>
      </p:sp>
      <p:sp>
        <p:nvSpPr>
          <p:cNvPr id="7" name="Text 4"/>
          <p:cNvSpPr/>
          <p:nvPr/>
        </p:nvSpPr>
        <p:spPr>
          <a:xfrm>
            <a:off x="8815316" y="2697480"/>
            <a:ext cx="1463040" cy="457200"/>
          </a:xfrm>
          <a:prstGeom prst="rect">
            <a:avLst/>
          </a:prstGeom>
          <a:noFill/>
          <a:ln/>
        </p:spPr>
        <p:txBody>
          <a:bodyPr wrap="square" lIns="0" tIns="0" rIns="0" bIns="0" rtlCol="0" anchor="ctr"/>
          <a:lstStyle/>
          <a:p>
            <a:pPr marL="0" indent="0">
              <a:buNone/>
            </a:pPr>
            <a:r>
              <a:rPr lang="en-US" sz="1500" dirty="0">
                <a:solidFill>
                  <a:srgbClr val="7A7066"/>
                </a:solidFill>
                <a:latin typeface="Consolas" pitchFamily="34" charset="0"/>
                <a:ea typeface="Consolas" pitchFamily="34" charset="-122"/>
                <a:cs typeface="Consolas" pitchFamily="34" charset="-120"/>
              </a:rPr>
              <a:t>$0</a:t>
            </a:r>
            <a:endParaRPr lang="en-US" sz="1500" dirty="0"/>
          </a:p>
        </p:txBody>
      </p:sp>
      <p:sp>
        <p:nvSpPr>
          <p:cNvPr id="8" name="Text 5"/>
          <p:cNvSpPr/>
          <p:nvPr/>
        </p:nvSpPr>
        <p:spPr>
          <a:xfrm>
            <a:off x="6986516" y="3264408"/>
            <a:ext cx="1828800" cy="457200"/>
          </a:xfrm>
          <a:prstGeom prst="rect">
            <a:avLst/>
          </a:prstGeom>
          <a:noFill/>
          <a:ln/>
        </p:spPr>
        <p:txBody>
          <a:bodyPr wrap="square" lIns="0" tIns="0" rIns="0" bIns="0" rtlCol="0" anchor="ctr"/>
          <a:lstStyle/>
          <a:p>
            <a:pPr marL="0" indent="0">
              <a:buNone/>
            </a:pPr>
            <a:r>
              <a:rPr lang="en-US" sz="1500" dirty="0">
                <a:solidFill>
                  <a:srgbClr val="2B2118"/>
                </a:solidFill>
                <a:latin typeface="Consolas" pitchFamily="34" charset="0"/>
                <a:ea typeface="Consolas" pitchFamily="34" charset="-122"/>
                <a:cs typeface="Consolas" pitchFamily="34" charset="-120"/>
              </a:rPr>
              <a:t>(26.67, 0)</a:t>
            </a:r>
            <a:endParaRPr lang="en-US" sz="1500" dirty="0"/>
          </a:p>
        </p:txBody>
      </p:sp>
      <p:sp>
        <p:nvSpPr>
          <p:cNvPr id="9" name="Text 6"/>
          <p:cNvSpPr/>
          <p:nvPr/>
        </p:nvSpPr>
        <p:spPr>
          <a:xfrm>
            <a:off x="8815316" y="3264408"/>
            <a:ext cx="1463040" cy="457200"/>
          </a:xfrm>
          <a:prstGeom prst="rect">
            <a:avLst/>
          </a:prstGeom>
          <a:noFill/>
          <a:ln/>
        </p:spPr>
        <p:txBody>
          <a:bodyPr wrap="square" lIns="0" tIns="0" rIns="0" bIns="0" rtlCol="0" anchor="ctr"/>
          <a:lstStyle/>
          <a:p>
            <a:pPr marL="0" indent="0">
              <a:buNone/>
            </a:pPr>
            <a:r>
              <a:rPr lang="en-US" sz="1500" dirty="0">
                <a:solidFill>
                  <a:srgbClr val="7A7066"/>
                </a:solidFill>
                <a:latin typeface="Consolas" pitchFamily="34" charset="0"/>
                <a:ea typeface="Consolas" pitchFamily="34" charset="-122"/>
                <a:cs typeface="Consolas" pitchFamily="34" charset="-120"/>
              </a:rPr>
              <a:t>$133.33</a:t>
            </a:r>
            <a:endParaRPr lang="en-US" sz="1500" dirty="0"/>
          </a:p>
        </p:txBody>
      </p:sp>
      <p:sp>
        <p:nvSpPr>
          <p:cNvPr id="10" name="Text 7"/>
          <p:cNvSpPr/>
          <p:nvPr/>
        </p:nvSpPr>
        <p:spPr>
          <a:xfrm>
            <a:off x="6986516" y="3831336"/>
            <a:ext cx="1828800" cy="457200"/>
          </a:xfrm>
          <a:prstGeom prst="rect">
            <a:avLst/>
          </a:prstGeom>
          <a:noFill/>
          <a:ln/>
        </p:spPr>
        <p:txBody>
          <a:bodyPr wrap="square" lIns="0" tIns="0" rIns="0" bIns="0" rtlCol="0" anchor="ctr"/>
          <a:lstStyle/>
          <a:p>
            <a:pPr marL="0" indent="0">
              <a:buNone/>
            </a:pPr>
            <a:r>
              <a:rPr lang="en-US" sz="1500" dirty="0">
                <a:solidFill>
                  <a:srgbClr val="2B2118"/>
                </a:solidFill>
                <a:latin typeface="Consolas" pitchFamily="34" charset="0"/>
                <a:ea typeface="Consolas" pitchFamily="34" charset="-122"/>
                <a:cs typeface="Consolas" pitchFamily="34" charset="-120"/>
              </a:rPr>
              <a:t>(0, 60)</a:t>
            </a:r>
            <a:endParaRPr lang="en-US" sz="1500" dirty="0"/>
          </a:p>
        </p:txBody>
      </p:sp>
      <p:sp>
        <p:nvSpPr>
          <p:cNvPr id="11" name="Text 8"/>
          <p:cNvSpPr/>
          <p:nvPr/>
        </p:nvSpPr>
        <p:spPr>
          <a:xfrm>
            <a:off x="8815316" y="3831336"/>
            <a:ext cx="1463040" cy="457200"/>
          </a:xfrm>
          <a:prstGeom prst="rect">
            <a:avLst/>
          </a:prstGeom>
          <a:noFill/>
          <a:ln/>
        </p:spPr>
        <p:txBody>
          <a:bodyPr wrap="square" lIns="0" tIns="0" rIns="0" bIns="0" rtlCol="0" anchor="ctr"/>
          <a:lstStyle/>
          <a:p>
            <a:pPr marL="0" indent="0">
              <a:buNone/>
            </a:pPr>
            <a:r>
              <a:rPr lang="en-US" sz="1500" dirty="0">
                <a:solidFill>
                  <a:srgbClr val="7A7066"/>
                </a:solidFill>
                <a:latin typeface="Consolas" pitchFamily="34" charset="0"/>
                <a:ea typeface="Consolas" pitchFamily="34" charset="-122"/>
                <a:cs typeface="Consolas" pitchFamily="34" charset="-120"/>
              </a:rPr>
              <a:t>$120</a:t>
            </a:r>
            <a:endParaRPr lang="en-US" sz="1500" dirty="0"/>
          </a:p>
        </p:txBody>
      </p:sp>
      <p:sp>
        <p:nvSpPr>
          <p:cNvPr id="12" name="Text 9"/>
          <p:cNvSpPr/>
          <p:nvPr/>
        </p:nvSpPr>
        <p:spPr>
          <a:xfrm>
            <a:off x="6986516" y="4398264"/>
            <a:ext cx="1828800" cy="457200"/>
          </a:xfrm>
          <a:prstGeom prst="rect">
            <a:avLst/>
          </a:prstGeom>
          <a:noFill/>
          <a:ln/>
        </p:spPr>
        <p:txBody>
          <a:bodyPr wrap="square" lIns="0" tIns="0" rIns="0" bIns="0" rtlCol="0" anchor="ctr"/>
          <a:lstStyle/>
          <a:p>
            <a:pPr marL="0" indent="0">
              <a:buNone/>
            </a:pPr>
            <a:r>
              <a:rPr lang="en-US" sz="1500" b="1" dirty="0">
                <a:solidFill>
                  <a:srgbClr val="C0392B"/>
                </a:solidFill>
                <a:latin typeface="Consolas" pitchFamily="34" charset="0"/>
                <a:ea typeface="Consolas" pitchFamily="34" charset="-122"/>
                <a:cs typeface="Consolas" pitchFamily="34" charset="-120"/>
              </a:rPr>
              <a:t>(20, 20)</a:t>
            </a:r>
            <a:endParaRPr lang="en-US" sz="1500" dirty="0"/>
          </a:p>
        </p:txBody>
      </p:sp>
      <p:sp>
        <p:nvSpPr>
          <p:cNvPr id="13" name="Text 10"/>
          <p:cNvSpPr/>
          <p:nvPr/>
        </p:nvSpPr>
        <p:spPr>
          <a:xfrm>
            <a:off x="8815316" y="4398264"/>
            <a:ext cx="1463040" cy="457200"/>
          </a:xfrm>
          <a:prstGeom prst="rect">
            <a:avLst/>
          </a:prstGeom>
          <a:noFill/>
          <a:ln/>
        </p:spPr>
        <p:txBody>
          <a:bodyPr wrap="square" lIns="0" tIns="0" rIns="0" bIns="0" rtlCol="0" anchor="ctr"/>
          <a:lstStyle/>
          <a:p>
            <a:pPr marL="0" indent="0">
              <a:buNone/>
            </a:pPr>
            <a:r>
              <a:rPr lang="en-US" sz="1500" b="1" dirty="0">
                <a:solidFill>
                  <a:srgbClr val="C0392B"/>
                </a:solidFill>
                <a:latin typeface="Consolas" pitchFamily="34" charset="0"/>
                <a:ea typeface="Consolas" pitchFamily="34" charset="-122"/>
                <a:cs typeface="Consolas" pitchFamily="34" charset="-120"/>
              </a:rPr>
              <a:t>$140</a:t>
            </a:r>
            <a:endParaRPr lang="en-US" sz="1500" dirty="0"/>
          </a:p>
        </p:txBody>
      </p:sp>
      <p:sp>
        <p:nvSpPr>
          <p:cNvPr id="14" name="Text 11"/>
          <p:cNvSpPr/>
          <p:nvPr/>
        </p:nvSpPr>
        <p:spPr>
          <a:xfrm>
            <a:off x="10232636" y="4398264"/>
            <a:ext cx="1280160" cy="457200"/>
          </a:xfrm>
          <a:prstGeom prst="rect">
            <a:avLst/>
          </a:prstGeom>
          <a:noFill/>
          <a:ln/>
        </p:spPr>
        <p:txBody>
          <a:bodyPr wrap="square" lIns="0" tIns="0" rIns="0" bIns="0" rtlCol="0" anchor="ctr"/>
          <a:lstStyle/>
          <a:p>
            <a:pPr marL="0" indent="0">
              <a:buNone/>
            </a:pPr>
            <a:r>
              <a:rPr lang="en-US" sz="1200" i="1" dirty="0">
                <a:solidFill>
                  <a:srgbClr val="C0392B"/>
                </a:solidFill>
                <a:latin typeface="Calibri" pitchFamily="34" charset="0"/>
                <a:ea typeface="Calibri" pitchFamily="34" charset="-122"/>
                <a:cs typeface="Calibri" pitchFamily="34" charset="-120"/>
              </a:rPr>
              <a:t>← óptimo</a:t>
            </a:r>
            <a:endParaRPr lang="en-US" sz="1200" dirty="0"/>
          </a:p>
        </p:txBody>
      </p:sp>
      <p:sp>
        <p:nvSpPr>
          <p:cNvPr id="15" name="Shape 12"/>
          <p:cNvSpPr/>
          <p:nvPr/>
        </p:nvSpPr>
        <p:spPr>
          <a:xfrm>
            <a:off x="6986516" y="5120640"/>
            <a:ext cx="4534924" cy="1051560"/>
          </a:xfrm>
          <a:prstGeom prst="roundRect">
            <a:avLst>
              <a:gd name="adj" fmla="val 6957"/>
            </a:avLst>
          </a:prstGeom>
          <a:solidFill>
            <a:srgbClr val="F7F4F0"/>
          </a:solidFill>
          <a:ln w="12700">
            <a:solidFill>
              <a:srgbClr val="E6DFD6"/>
            </a:solidFill>
            <a:prstDash val="solid"/>
          </a:ln>
        </p:spPr>
      </p:sp>
      <p:sp>
        <p:nvSpPr>
          <p:cNvPr id="16" name="Text 13"/>
          <p:cNvSpPr/>
          <p:nvPr/>
        </p:nvSpPr>
        <p:spPr>
          <a:xfrm>
            <a:off x="7215116" y="5212080"/>
            <a:ext cx="4077724" cy="868680"/>
          </a:xfrm>
          <a:prstGeom prst="rect">
            <a:avLst/>
          </a:prstGeom>
          <a:noFill/>
          <a:ln/>
        </p:spPr>
        <p:txBody>
          <a:bodyPr wrap="square" lIns="0" tIns="0" rIns="0" bIns="0" rtlCol="0" anchor="ctr"/>
          <a:lstStyle/>
          <a:p>
            <a:pPr marL="0" indent="0">
              <a:lnSpc>
                <a:spcPct val="110000"/>
              </a:lnSpc>
              <a:buNone/>
            </a:pPr>
            <a:r>
              <a:rPr lang="en-US" sz="1350" dirty="0">
                <a:solidFill>
                  <a:srgbClr val="2B2118"/>
                </a:solidFill>
                <a:latin typeface="Calibri" pitchFamily="34" charset="0"/>
                <a:ea typeface="Calibri" pitchFamily="34" charset="-122"/>
                <a:cs typeface="Calibri" pitchFamily="34" charset="-120"/>
              </a:rPr>
              <a:t>El óptimo (20, 20) coincide exactamente con Solver. La recta de tiempo queda fuera de la región factible: confirma que no es restrictiva.</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274320"/>
          </a:xfrm>
          <a:prstGeom prst="rect">
            <a:avLst/>
          </a:prstGeom>
          <a:noFill/>
          <a:ln/>
        </p:spPr>
        <p:txBody>
          <a:bodyPr wrap="square" lIns="0" tIns="0" rIns="0" bIns="0"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DEMOSTRACIÓN DEL SOFTWARE</a:t>
            </a:r>
            <a:endParaRPr lang="en-US" sz="1200" dirty="0"/>
          </a:p>
        </p:txBody>
      </p:sp>
      <p:sp>
        <p:nvSpPr>
          <p:cNvPr id="3" name="Text 1"/>
          <p:cNvSpPr/>
          <p:nvPr/>
        </p:nvSpPr>
        <p:spPr>
          <a:xfrm>
            <a:off x="822960" y="841248"/>
            <a:ext cx="10515600" cy="822960"/>
          </a:xfrm>
          <a:prstGeom prst="rect">
            <a:avLst/>
          </a:prstGeom>
          <a:noFill/>
          <a:ln/>
        </p:spPr>
        <p:txBody>
          <a:bodyPr wrap="square" lIns="0" tIns="0" rIns="0" bIns="0" rtlCol="0" anchor="ctr"/>
          <a:lstStyle/>
          <a:p>
            <a:pPr marL="0" indent="0">
              <a:buNone/>
            </a:pPr>
            <a:r>
              <a:rPr lang="en-US" sz="3200" b="1" dirty="0">
                <a:solidFill>
                  <a:srgbClr val="241C16"/>
                </a:solidFill>
                <a:latin typeface="Georgia" pitchFamily="34" charset="0"/>
                <a:ea typeface="Georgia" pitchFamily="34" charset="-122"/>
                <a:cs typeface="Georgia" pitchFamily="34" charset="-120"/>
              </a:rPr>
              <a:t>Resolución con Excel Solver</a:t>
            </a:r>
            <a:endParaRPr lang="en-US" sz="3200" dirty="0"/>
          </a:p>
        </p:txBody>
      </p:sp>
      <p:sp>
        <p:nvSpPr>
          <p:cNvPr id="4" name="Text 2"/>
          <p:cNvSpPr/>
          <p:nvPr/>
        </p:nvSpPr>
        <p:spPr>
          <a:xfrm>
            <a:off x="822960" y="1737360"/>
            <a:ext cx="10058400" cy="411480"/>
          </a:xfrm>
          <a:prstGeom prst="rect">
            <a:avLst/>
          </a:prstGeom>
          <a:noFill/>
          <a:ln/>
        </p:spPr>
        <p:txBody>
          <a:bodyPr wrap="square" lIns="0" tIns="0" rIns="0" bIns="0" rtlCol="0" anchor="ctr"/>
          <a:lstStyle/>
          <a:p>
            <a:pPr marL="0" indent="0">
              <a:buNone/>
            </a:pPr>
            <a:r>
              <a:rPr lang="en-US" sz="1500" dirty="0">
                <a:solidFill>
                  <a:srgbClr val="2B2118"/>
                </a:solidFill>
                <a:latin typeface="Calibri" pitchFamily="34" charset="0"/>
                <a:ea typeface="Calibri" pitchFamily="34" charset="-122"/>
                <a:cs typeface="Calibri" pitchFamily="34" charset="-120"/>
              </a:rPr>
              <a:t>Pasos que se muestran en vivo durante la demostración:</a:t>
            </a:r>
            <a:endParaRPr lang="en-US" sz="1500" dirty="0"/>
          </a:p>
        </p:txBody>
      </p:sp>
      <p:sp>
        <p:nvSpPr>
          <p:cNvPr id="5" name="Shape 3"/>
          <p:cNvSpPr/>
          <p:nvPr/>
        </p:nvSpPr>
        <p:spPr>
          <a:xfrm>
            <a:off x="914400" y="2331720"/>
            <a:ext cx="640080" cy="640080"/>
          </a:xfrm>
          <a:prstGeom prst="ellipse">
            <a:avLst/>
          </a:prstGeom>
          <a:solidFill>
            <a:srgbClr val="C0392B"/>
          </a:solidFill>
          <a:ln/>
        </p:spPr>
      </p:sp>
      <p:sp>
        <p:nvSpPr>
          <p:cNvPr id="6" name="Text 4"/>
          <p:cNvSpPr/>
          <p:nvPr/>
        </p:nvSpPr>
        <p:spPr>
          <a:xfrm>
            <a:off x="914400" y="233172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783080" y="2286000"/>
            <a:ext cx="4206240" cy="411480"/>
          </a:xfrm>
          <a:prstGeom prst="rect">
            <a:avLst/>
          </a:prstGeom>
          <a:noFill/>
          <a:ln/>
        </p:spPr>
        <p:txBody>
          <a:bodyPr wrap="square" lIns="0" tIns="0" rIns="0" bIns="0" rtlCol="0" anchor="ctr"/>
          <a:lstStyle/>
          <a:p>
            <a:pPr marL="0" indent="0">
              <a:buNone/>
            </a:pPr>
            <a:r>
              <a:rPr lang="en-US" sz="1700" b="1" dirty="0">
                <a:solidFill>
                  <a:srgbClr val="241C16"/>
                </a:solidFill>
                <a:latin typeface="Georgia" pitchFamily="34" charset="0"/>
                <a:ea typeface="Georgia" pitchFamily="34" charset="-122"/>
                <a:cs typeface="Georgia" pitchFamily="34" charset="-120"/>
              </a:rPr>
              <a:t>Definir celdas variables</a:t>
            </a:r>
            <a:endParaRPr lang="en-US" sz="1700" dirty="0"/>
          </a:p>
        </p:txBody>
      </p:sp>
      <p:sp>
        <p:nvSpPr>
          <p:cNvPr id="8" name="Text 6"/>
          <p:cNvSpPr/>
          <p:nvPr/>
        </p:nvSpPr>
        <p:spPr>
          <a:xfrm>
            <a:off x="1783080" y="2679192"/>
            <a:ext cx="4663440" cy="548640"/>
          </a:xfrm>
          <a:prstGeom prst="rect">
            <a:avLst/>
          </a:prstGeom>
          <a:noFill/>
          <a:ln/>
        </p:spPr>
        <p:txBody>
          <a:bodyPr wrap="square" lIns="0" tIns="0" rIns="0" bIns="0" rtlCol="0" anchor="ctr"/>
          <a:lstStyle/>
          <a:p>
            <a:pPr marL="0" indent="0">
              <a:lnSpc>
                <a:spcPct val="105000"/>
              </a:lnSpc>
              <a:buNone/>
            </a:pPr>
            <a:r>
              <a:rPr lang="en-US" sz="1350" dirty="0">
                <a:solidFill>
                  <a:srgbClr val="7A7066"/>
                </a:solidFill>
                <a:latin typeface="Calibri" pitchFamily="34" charset="0"/>
                <a:ea typeface="Calibri" pitchFamily="34" charset="-122"/>
                <a:cs typeface="Calibri" pitchFamily="34" charset="-120"/>
              </a:rPr>
              <a:t>Las cantidades de cada pizza (X₁ y X₂) como celdas cambiantes.</a:t>
            </a:r>
            <a:endParaRPr lang="en-US" sz="1350" dirty="0"/>
          </a:p>
        </p:txBody>
      </p:sp>
      <p:sp>
        <p:nvSpPr>
          <p:cNvPr id="9" name="Shape 7"/>
          <p:cNvSpPr/>
          <p:nvPr/>
        </p:nvSpPr>
        <p:spPr>
          <a:xfrm>
            <a:off x="914400" y="3319272"/>
            <a:ext cx="640080" cy="640080"/>
          </a:xfrm>
          <a:prstGeom prst="ellipse">
            <a:avLst/>
          </a:prstGeom>
          <a:solidFill>
            <a:srgbClr val="C0392B"/>
          </a:solidFill>
          <a:ln/>
        </p:spPr>
      </p:sp>
      <p:sp>
        <p:nvSpPr>
          <p:cNvPr id="10" name="Text 8"/>
          <p:cNvSpPr/>
          <p:nvPr/>
        </p:nvSpPr>
        <p:spPr>
          <a:xfrm>
            <a:off x="914400" y="331927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1783080" y="3273552"/>
            <a:ext cx="4206240" cy="411480"/>
          </a:xfrm>
          <a:prstGeom prst="rect">
            <a:avLst/>
          </a:prstGeom>
          <a:noFill/>
          <a:ln/>
        </p:spPr>
        <p:txBody>
          <a:bodyPr wrap="square" lIns="0" tIns="0" rIns="0" bIns="0" rtlCol="0" anchor="ctr"/>
          <a:lstStyle/>
          <a:p>
            <a:pPr marL="0" indent="0">
              <a:buNone/>
            </a:pPr>
            <a:r>
              <a:rPr lang="en-US" sz="1700" b="1" dirty="0">
                <a:solidFill>
                  <a:srgbClr val="241C16"/>
                </a:solidFill>
                <a:latin typeface="Georgia" pitchFamily="34" charset="0"/>
                <a:ea typeface="Georgia" pitchFamily="34" charset="-122"/>
                <a:cs typeface="Georgia" pitchFamily="34" charset="-120"/>
              </a:rPr>
              <a:t>Establecer la celda objetivo</a:t>
            </a:r>
            <a:endParaRPr lang="en-US" sz="1700" dirty="0"/>
          </a:p>
        </p:txBody>
      </p:sp>
      <p:sp>
        <p:nvSpPr>
          <p:cNvPr id="12" name="Text 10"/>
          <p:cNvSpPr/>
          <p:nvPr/>
        </p:nvSpPr>
        <p:spPr>
          <a:xfrm>
            <a:off x="1783080" y="3666744"/>
            <a:ext cx="4663440" cy="548640"/>
          </a:xfrm>
          <a:prstGeom prst="rect">
            <a:avLst/>
          </a:prstGeom>
          <a:noFill/>
          <a:ln/>
        </p:spPr>
        <p:txBody>
          <a:bodyPr wrap="square" lIns="0" tIns="0" rIns="0" bIns="0" rtlCol="0" anchor="ctr"/>
          <a:lstStyle/>
          <a:p>
            <a:pPr marL="0" indent="0">
              <a:lnSpc>
                <a:spcPct val="105000"/>
              </a:lnSpc>
              <a:buNone/>
            </a:pPr>
            <a:r>
              <a:rPr lang="en-US" sz="1350" dirty="0">
                <a:solidFill>
                  <a:srgbClr val="7A7066"/>
                </a:solidFill>
                <a:latin typeface="Calibri" pitchFamily="34" charset="0"/>
                <a:ea typeface="Calibri" pitchFamily="34" charset="-122"/>
                <a:cs typeface="Calibri" pitchFamily="34" charset="-120"/>
              </a:rPr>
              <a:t>La fórmula de ganancia 5X₁ + 2X₂, con la opción Maximizar.</a:t>
            </a:r>
            <a:endParaRPr lang="en-US" sz="1350" dirty="0"/>
          </a:p>
        </p:txBody>
      </p:sp>
      <p:sp>
        <p:nvSpPr>
          <p:cNvPr id="13" name="Shape 11"/>
          <p:cNvSpPr/>
          <p:nvPr/>
        </p:nvSpPr>
        <p:spPr>
          <a:xfrm>
            <a:off x="914400" y="4306824"/>
            <a:ext cx="640080" cy="640080"/>
          </a:xfrm>
          <a:prstGeom prst="ellipse">
            <a:avLst/>
          </a:prstGeom>
          <a:solidFill>
            <a:srgbClr val="C0392B"/>
          </a:solidFill>
          <a:ln/>
        </p:spPr>
      </p:sp>
      <p:sp>
        <p:nvSpPr>
          <p:cNvPr id="14" name="Text 12"/>
          <p:cNvSpPr/>
          <p:nvPr/>
        </p:nvSpPr>
        <p:spPr>
          <a:xfrm>
            <a:off x="914400" y="4306824"/>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5" name="Text 13"/>
          <p:cNvSpPr/>
          <p:nvPr/>
        </p:nvSpPr>
        <p:spPr>
          <a:xfrm>
            <a:off x="1783080" y="4261104"/>
            <a:ext cx="4206240" cy="411480"/>
          </a:xfrm>
          <a:prstGeom prst="rect">
            <a:avLst/>
          </a:prstGeom>
          <a:noFill/>
          <a:ln/>
        </p:spPr>
        <p:txBody>
          <a:bodyPr wrap="square" lIns="0" tIns="0" rIns="0" bIns="0" rtlCol="0" anchor="ctr"/>
          <a:lstStyle/>
          <a:p>
            <a:pPr marL="0" indent="0">
              <a:buNone/>
            </a:pPr>
            <a:r>
              <a:rPr lang="en-US" sz="1700" b="1" dirty="0">
                <a:solidFill>
                  <a:srgbClr val="241C16"/>
                </a:solidFill>
                <a:latin typeface="Georgia" pitchFamily="34" charset="0"/>
                <a:ea typeface="Georgia" pitchFamily="34" charset="-122"/>
                <a:cs typeface="Georgia" pitchFamily="34" charset="-120"/>
              </a:rPr>
              <a:t>Agregar las restricciones</a:t>
            </a:r>
            <a:endParaRPr lang="en-US" sz="1700" dirty="0"/>
          </a:p>
        </p:txBody>
      </p:sp>
      <p:sp>
        <p:nvSpPr>
          <p:cNvPr id="16" name="Text 14"/>
          <p:cNvSpPr/>
          <p:nvPr/>
        </p:nvSpPr>
        <p:spPr>
          <a:xfrm>
            <a:off x="1783080" y="4654296"/>
            <a:ext cx="4663440" cy="548640"/>
          </a:xfrm>
          <a:prstGeom prst="rect">
            <a:avLst/>
          </a:prstGeom>
          <a:noFill/>
          <a:ln/>
        </p:spPr>
        <p:txBody>
          <a:bodyPr wrap="square" lIns="0" tIns="0" rIns="0" bIns="0" rtlCol="0" anchor="ctr"/>
          <a:lstStyle/>
          <a:p>
            <a:pPr marL="0" indent="0">
              <a:lnSpc>
                <a:spcPct val="105000"/>
              </a:lnSpc>
              <a:buNone/>
            </a:pPr>
            <a:r>
              <a:rPr lang="en-US" sz="1350" dirty="0">
                <a:solidFill>
                  <a:srgbClr val="7A7066"/>
                </a:solidFill>
                <a:latin typeface="Calibri" pitchFamily="34" charset="0"/>
                <a:ea typeface="Calibri" pitchFamily="34" charset="-122"/>
                <a:cs typeface="Calibri" pitchFamily="34" charset="-120"/>
              </a:rPr>
              <a:t>Masa ≤ 60, queso ≤ 40 y tiempo ≤ 20, más la no negatividad.</a:t>
            </a:r>
            <a:endParaRPr lang="en-US" sz="1350" dirty="0"/>
          </a:p>
        </p:txBody>
      </p:sp>
      <p:sp>
        <p:nvSpPr>
          <p:cNvPr id="17" name="Shape 15"/>
          <p:cNvSpPr/>
          <p:nvPr/>
        </p:nvSpPr>
        <p:spPr>
          <a:xfrm>
            <a:off x="914400" y="5294376"/>
            <a:ext cx="640080" cy="640080"/>
          </a:xfrm>
          <a:prstGeom prst="ellipse">
            <a:avLst/>
          </a:prstGeom>
          <a:solidFill>
            <a:srgbClr val="D98E04"/>
          </a:solidFill>
          <a:ln/>
        </p:spPr>
      </p:sp>
      <p:sp>
        <p:nvSpPr>
          <p:cNvPr id="18" name="Text 16"/>
          <p:cNvSpPr/>
          <p:nvPr/>
        </p:nvSpPr>
        <p:spPr>
          <a:xfrm>
            <a:off x="914400" y="5294376"/>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9" name="Text 17"/>
          <p:cNvSpPr/>
          <p:nvPr/>
        </p:nvSpPr>
        <p:spPr>
          <a:xfrm>
            <a:off x="1783080" y="5248656"/>
            <a:ext cx="4206240" cy="411480"/>
          </a:xfrm>
          <a:prstGeom prst="rect">
            <a:avLst/>
          </a:prstGeom>
          <a:noFill/>
          <a:ln/>
        </p:spPr>
        <p:txBody>
          <a:bodyPr wrap="square" lIns="0" tIns="0" rIns="0" bIns="0" rtlCol="0" anchor="ctr"/>
          <a:lstStyle/>
          <a:p>
            <a:pPr marL="0" indent="0">
              <a:buNone/>
            </a:pPr>
            <a:r>
              <a:rPr lang="en-US" sz="1700" b="1" dirty="0">
                <a:solidFill>
                  <a:srgbClr val="241C16"/>
                </a:solidFill>
                <a:latin typeface="Georgia" pitchFamily="34" charset="0"/>
                <a:ea typeface="Georgia" pitchFamily="34" charset="-122"/>
                <a:cs typeface="Georgia" pitchFamily="34" charset="-120"/>
              </a:rPr>
              <a:t>Elegir el motor Simplex LP</a:t>
            </a:r>
            <a:endParaRPr lang="en-US" sz="1700" dirty="0"/>
          </a:p>
        </p:txBody>
      </p:sp>
      <p:sp>
        <p:nvSpPr>
          <p:cNvPr id="20" name="Text 18"/>
          <p:cNvSpPr/>
          <p:nvPr/>
        </p:nvSpPr>
        <p:spPr>
          <a:xfrm>
            <a:off x="1783080" y="5641848"/>
            <a:ext cx="4663440" cy="548640"/>
          </a:xfrm>
          <a:prstGeom prst="rect">
            <a:avLst/>
          </a:prstGeom>
          <a:noFill/>
          <a:ln/>
        </p:spPr>
        <p:txBody>
          <a:bodyPr wrap="square" lIns="0" tIns="0" rIns="0" bIns="0" rtlCol="0" anchor="ctr"/>
          <a:lstStyle/>
          <a:p>
            <a:pPr marL="0" indent="0">
              <a:lnSpc>
                <a:spcPct val="105000"/>
              </a:lnSpc>
              <a:buNone/>
            </a:pPr>
            <a:r>
              <a:rPr lang="en-US" sz="1350" dirty="0">
                <a:solidFill>
                  <a:srgbClr val="7A7066"/>
                </a:solidFill>
                <a:latin typeface="Calibri" pitchFamily="34" charset="0"/>
                <a:ea typeface="Calibri" pitchFamily="34" charset="-122"/>
                <a:cs typeface="Calibri" pitchFamily="34" charset="-120"/>
              </a:rPr>
              <a:t>Solver aplica el algoritmo Simplex y entrega la solución óptima global.</a:t>
            </a:r>
            <a:endParaRPr lang="en-US" sz="1350" dirty="0"/>
          </a:p>
        </p:txBody>
      </p:sp>
      <p:sp>
        <p:nvSpPr>
          <p:cNvPr id="21" name="Shape 19"/>
          <p:cNvSpPr/>
          <p:nvPr/>
        </p:nvSpPr>
        <p:spPr>
          <a:xfrm>
            <a:off x="6949440" y="2331720"/>
            <a:ext cx="4389120" cy="3566160"/>
          </a:xfrm>
          <a:prstGeom prst="roundRect">
            <a:avLst>
              <a:gd name="adj" fmla="val 2564"/>
            </a:avLst>
          </a:prstGeom>
          <a:solidFill>
            <a:srgbClr val="241C16"/>
          </a:solidFill>
          <a:ln/>
          <a:effectLst>
            <a:outerShdw blurRad="101600" dist="38100" dir="8100000" algn="bl" rotWithShape="0">
              <a:srgbClr val="000000">
                <a:alpha val="12000"/>
              </a:srgbClr>
            </a:outerShdw>
          </a:effectLst>
        </p:spPr>
      </p:sp>
      <p:sp>
        <p:nvSpPr>
          <p:cNvPr id="22" name="Text 20"/>
          <p:cNvSpPr/>
          <p:nvPr/>
        </p:nvSpPr>
        <p:spPr>
          <a:xfrm>
            <a:off x="7269480" y="2606040"/>
            <a:ext cx="3840480" cy="320040"/>
          </a:xfrm>
          <a:prstGeom prst="rect">
            <a:avLst/>
          </a:prstGeom>
          <a:noFill/>
          <a:ln/>
        </p:spPr>
        <p:txBody>
          <a:bodyPr wrap="square" lIns="0" tIns="0" rIns="0" bIns="0" rtlCol="0" anchor="ctr"/>
          <a:lstStyle/>
          <a:p>
            <a:pPr marL="0" indent="0">
              <a:buNone/>
            </a:pPr>
            <a:r>
              <a:rPr lang="en-US" sz="1200" b="1" kern="0" spc="100" dirty="0">
                <a:solidFill>
                  <a:srgbClr val="D98E04"/>
                </a:solidFill>
                <a:latin typeface="Calibri" pitchFamily="34" charset="0"/>
                <a:ea typeface="Calibri" pitchFamily="34" charset="-122"/>
                <a:cs typeface="Calibri" pitchFamily="34" charset="-120"/>
              </a:rPr>
              <a:t>RESULTADO DE SOLVER</a:t>
            </a:r>
            <a:endParaRPr lang="en-US" sz="1200" dirty="0"/>
          </a:p>
        </p:txBody>
      </p:sp>
      <p:sp>
        <p:nvSpPr>
          <p:cNvPr id="23" name="Text 21"/>
          <p:cNvSpPr/>
          <p:nvPr/>
        </p:nvSpPr>
        <p:spPr>
          <a:xfrm>
            <a:off x="7269480" y="2971800"/>
            <a:ext cx="3794760" cy="914400"/>
          </a:xfrm>
          <a:prstGeom prst="rect">
            <a:avLst/>
          </a:prstGeom>
          <a:noFill/>
          <a:ln/>
        </p:spPr>
        <p:txBody>
          <a:bodyPr wrap="square" lIns="0" tIns="0" rIns="0" bIns="0" rtlCol="0" anchor="ctr"/>
          <a:lstStyle/>
          <a:p>
            <a:pPr marL="0" indent="0">
              <a:lnSpc>
                <a:spcPct val="115000"/>
              </a:lnSpc>
              <a:buNone/>
            </a:pPr>
            <a:r>
              <a:rPr lang="en-US" sz="1400" i="1" dirty="0">
                <a:solidFill>
                  <a:srgbClr val="EDE6DD"/>
                </a:solidFill>
                <a:latin typeface="Calibri" pitchFamily="34" charset="0"/>
                <a:ea typeface="Calibri" pitchFamily="34" charset="-122"/>
                <a:cs typeface="Calibri" pitchFamily="34" charset="-120"/>
              </a:rPr>
              <a:t>“Solver encontró una solución. Se cumplen todas las restricciones y condiciones óptimas.”</a:t>
            </a:r>
            <a:endParaRPr lang="en-US" sz="1400" dirty="0"/>
          </a:p>
        </p:txBody>
      </p:sp>
      <p:sp>
        <p:nvSpPr>
          <p:cNvPr id="24" name="Text 22"/>
          <p:cNvSpPr/>
          <p:nvPr/>
        </p:nvSpPr>
        <p:spPr>
          <a:xfrm>
            <a:off x="7269480" y="4069080"/>
            <a:ext cx="1828800" cy="457200"/>
          </a:xfrm>
          <a:prstGeom prst="rect">
            <a:avLst/>
          </a:prstGeom>
          <a:noFill/>
          <a:ln/>
        </p:spPr>
        <p:txBody>
          <a:bodyPr wrap="square" lIns="0" tIns="0" rIns="0" bIns="0" rtlCol="0" anchor="ctr"/>
          <a:lstStyle/>
          <a:p>
            <a:pPr marL="0" indent="0">
              <a:buNone/>
            </a:pPr>
            <a:r>
              <a:rPr lang="en-US" sz="1600" dirty="0">
                <a:solidFill>
                  <a:srgbClr val="D9CFC4"/>
                </a:solidFill>
                <a:latin typeface="Consolas" pitchFamily="34" charset="0"/>
                <a:ea typeface="Consolas" pitchFamily="34" charset="-122"/>
                <a:cs typeface="Consolas" pitchFamily="34" charset="-120"/>
              </a:rPr>
              <a:t>X₁</a:t>
            </a:r>
            <a:endParaRPr lang="en-US" sz="1600" dirty="0"/>
          </a:p>
        </p:txBody>
      </p:sp>
      <p:sp>
        <p:nvSpPr>
          <p:cNvPr id="25" name="Text 23"/>
          <p:cNvSpPr/>
          <p:nvPr/>
        </p:nvSpPr>
        <p:spPr>
          <a:xfrm>
            <a:off x="8961120" y="4069080"/>
            <a:ext cx="210312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nsolas" pitchFamily="34" charset="0"/>
                <a:ea typeface="Consolas" pitchFamily="34" charset="-122"/>
                <a:cs typeface="Consolas" pitchFamily="34" charset="-120"/>
              </a:rPr>
              <a:t>20</a:t>
            </a:r>
            <a:endParaRPr lang="en-US" sz="1800" dirty="0"/>
          </a:p>
        </p:txBody>
      </p:sp>
      <p:sp>
        <p:nvSpPr>
          <p:cNvPr id="26" name="Text 24"/>
          <p:cNvSpPr/>
          <p:nvPr/>
        </p:nvSpPr>
        <p:spPr>
          <a:xfrm>
            <a:off x="7269480" y="4636008"/>
            <a:ext cx="1828800" cy="457200"/>
          </a:xfrm>
          <a:prstGeom prst="rect">
            <a:avLst/>
          </a:prstGeom>
          <a:noFill/>
          <a:ln/>
        </p:spPr>
        <p:txBody>
          <a:bodyPr wrap="square" lIns="0" tIns="0" rIns="0" bIns="0" rtlCol="0" anchor="ctr"/>
          <a:lstStyle/>
          <a:p>
            <a:pPr marL="0" indent="0">
              <a:buNone/>
            </a:pPr>
            <a:r>
              <a:rPr lang="en-US" sz="1600" dirty="0">
                <a:solidFill>
                  <a:srgbClr val="D9CFC4"/>
                </a:solidFill>
                <a:latin typeface="Consolas" pitchFamily="34" charset="0"/>
                <a:ea typeface="Consolas" pitchFamily="34" charset="-122"/>
                <a:cs typeface="Consolas" pitchFamily="34" charset="-120"/>
              </a:rPr>
              <a:t>X₂</a:t>
            </a:r>
            <a:endParaRPr lang="en-US" sz="1600" dirty="0"/>
          </a:p>
        </p:txBody>
      </p:sp>
      <p:sp>
        <p:nvSpPr>
          <p:cNvPr id="27" name="Text 25"/>
          <p:cNvSpPr/>
          <p:nvPr/>
        </p:nvSpPr>
        <p:spPr>
          <a:xfrm>
            <a:off x="8961120" y="4636008"/>
            <a:ext cx="210312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nsolas" pitchFamily="34" charset="0"/>
                <a:ea typeface="Consolas" pitchFamily="34" charset="-122"/>
                <a:cs typeface="Consolas" pitchFamily="34" charset="-120"/>
              </a:rPr>
              <a:t>20</a:t>
            </a:r>
            <a:endParaRPr lang="en-US" sz="1800" dirty="0"/>
          </a:p>
        </p:txBody>
      </p:sp>
      <p:sp>
        <p:nvSpPr>
          <p:cNvPr id="28" name="Text 26"/>
          <p:cNvSpPr/>
          <p:nvPr/>
        </p:nvSpPr>
        <p:spPr>
          <a:xfrm>
            <a:off x="7269480" y="5202936"/>
            <a:ext cx="1828800" cy="457200"/>
          </a:xfrm>
          <a:prstGeom prst="rect">
            <a:avLst/>
          </a:prstGeom>
          <a:noFill/>
          <a:ln/>
        </p:spPr>
        <p:txBody>
          <a:bodyPr wrap="square" lIns="0" tIns="0" rIns="0" bIns="0" rtlCol="0" anchor="ctr"/>
          <a:lstStyle/>
          <a:p>
            <a:pPr marL="0" indent="0">
              <a:buNone/>
            </a:pPr>
            <a:r>
              <a:rPr lang="en-US" sz="1600" dirty="0">
                <a:solidFill>
                  <a:srgbClr val="D9CFC4"/>
                </a:solidFill>
                <a:latin typeface="Consolas" pitchFamily="34" charset="0"/>
                <a:ea typeface="Consolas" pitchFamily="34" charset="-122"/>
                <a:cs typeface="Consolas" pitchFamily="34" charset="-120"/>
              </a:rPr>
              <a:t>Z</a:t>
            </a:r>
            <a:endParaRPr lang="en-US" sz="1600" dirty="0"/>
          </a:p>
        </p:txBody>
      </p:sp>
      <p:sp>
        <p:nvSpPr>
          <p:cNvPr id="29" name="Text 27"/>
          <p:cNvSpPr/>
          <p:nvPr/>
        </p:nvSpPr>
        <p:spPr>
          <a:xfrm>
            <a:off x="8961120" y="5202936"/>
            <a:ext cx="210312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nsolas" pitchFamily="34" charset="0"/>
                <a:ea typeface="Consolas" pitchFamily="34" charset="-122"/>
                <a:cs typeface="Consolas" pitchFamily="34" charset="-120"/>
              </a:rPr>
              <a:t>$140</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274320"/>
          </a:xfrm>
          <a:prstGeom prst="rect">
            <a:avLst/>
          </a:prstGeom>
          <a:noFill/>
          <a:ln/>
        </p:spPr>
        <p:txBody>
          <a:bodyPr wrap="square" lIns="0" tIns="0" rIns="0" bIns="0"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ANÁLISIS AVANZADO</a:t>
            </a:r>
            <a:endParaRPr lang="en-US" sz="1200" dirty="0"/>
          </a:p>
        </p:txBody>
      </p:sp>
      <p:sp>
        <p:nvSpPr>
          <p:cNvPr id="3" name="Text 1"/>
          <p:cNvSpPr/>
          <p:nvPr/>
        </p:nvSpPr>
        <p:spPr>
          <a:xfrm>
            <a:off x="822960" y="841248"/>
            <a:ext cx="10972800" cy="822960"/>
          </a:xfrm>
          <a:prstGeom prst="rect">
            <a:avLst/>
          </a:prstGeom>
          <a:noFill/>
          <a:ln/>
        </p:spPr>
        <p:txBody>
          <a:bodyPr wrap="square" lIns="0" tIns="0" rIns="0" bIns="0" rtlCol="0" anchor="ctr"/>
          <a:lstStyle/>
          <a:p>
            <a:pPr marL="0" indent="0">
              <a:buNone/>
            </a:pPr>
            <a:r>
              <a:rPr lang="en-US" sz="3200" b="1" dirty="0">
                <a:solidFill>
                  <a:srgbClr val="241C16"/>
                </a:solidFill>
                <a:latin typeface="Georgia" pitchFamily="34" charset="0"/>
                <a:ea typeface="Georgia" pitchFamily="34" charset="-122"/>
                <a:cs typeface="Georgia" pitchFamily="34" charset="-120"/>
              </a:rPr>
              <a:t>Sensibilidad y dualidad: precios sombra</a:t>
            </a:r>
            <a:endParaRPr lang="en-US" sz="3200" dirty="0"/>
          </a:p>
        </p:txBody>
      </p:sp>
      <p:sp>
        <p:nvSpPr>
          <p:cNvPr id="4" name="Text 2"/>
          <p:cNvSpPr/>
          <p:nvPr/>
        </p:nvSpPr>
        <p:spPr>
          <a:xfrm>
            <a:off x="822960" y="1737360"/>
            <a:ext cx="10515600" cy="457200"/>
          </a:xfrm>
          <a:prstGeom prst="rect">
            <a:avLst/>
          </a:prstGeom>
          <a:noFill/>
          <a:ln/>
        </p:spPr>
        <p:txBody>
          <a:bodyPr wrap="square" lIns="0" tIns="0" rIns="0" bIns="0" rtlCol="0" anchor="ctr"/>
          <a:lstStyle/>
          <a:p>
            <a:pPr marL="0" indent="0">
              <a:buNone/>
            </a:pPr>
            <a:r>
              <a:rPr lang="en-US" sz="1500" dirty="0">
                <a:solidFill>
                  <a:srgbClr val="2B2118"/>
                </a:solidFill>
                <a:latin typeface="Calibri" pitchFamily="34" charset="0"/>
                <a:ea typeface="Calibri" pitchFamily="34" charset="-122"/>
                <a:cs typeface="Calibri" pitchFamily="34" charset="-120"/>
              </a:rPr>
              <a:t>El precio sombra indica cuánto aumentaría la ganancia óptima por cada unidad adicional de un recurso.</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2286000"/>
          <a:ext cx="6583680" cy="2432304"/>
        </p:xfrm>
        <a:graphic>
          <a:graphicData uri="http://schemas.openxmlformats.org/drawingml/2006/table">
            <a:tbl>
              <a:tblPr/>
              <a:tblGrid>
                <a:gridCol w="15544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5720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Recurso</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241C16"/>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Precio sombra</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241C16"/>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Interpretación</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241C16"/>
                    </a:solidFill>
                  </a:tcPr>
                </a:tc>
                <a:extLst>
                  <a:ext uri="{0D108BD9-81ED-4DB2-BD59-A6C34878D82A}">
                    <a16:rowId xmlns:a16="http://schemas.microsoft.com/office/drawing/2014/main" val="10000"/>
                  </a:ext>
                </a:extLst>
              </a:tr>
              <a:tr h="658368">
                <a:tc>
                  <a:txBody>
                    <a:bodyPr/>
                    <a:lstStyle/>
                    <a:p>
                      <a:pPr marL="0" indent="0">
                        <a:buNone/>
                      </a:pPr>
                      <a:r>
                        <a:rPr lang="en-US" sz="1350" dirty="0">
                          <a:solidFill>
                            <a:srgbClr val="2B2118"/>
                          </a:solidFill>
                          <a:latin typeface="Calibri" pitchFamily="34" charset="0"/>
                          <a:ea typeface="Calibri" pitchFamily="34" charset="-122"/>
                          <a:cs typeface="Calibri" pitchFamily="34" charset="-120"/>
                        </a:rPr>
                        <a:t>Masa</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buNone/>
                      </a:pPr>
                      <a:r>
                        <a:rPr lang="en-US" sz="1350" dirty="0">
                          <a:solidFill>
                            <a:srgbClr val="2B2118"/>
                          </a:solidFill>
                          <a:latin typeface="Calibri" pitchFamily="34" charset="0"/>
                          <a:ea typeface="Calibri" pitchFamily="34" charset="-122"/>
                          <a:cs typeface="Calibri" pitchFamily="34" charset="-120"/>
                        </a:rPr>
                        <a:t>$1 / porción</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buNone/>
                      </a:pPr>
                      <a:r>
                        <a:rPr lang="en-US" sz="1350" dirty="0">
                          <a:solidFill>
                            <a:srgbClr val="2B2118"/>
                          </a:solidFill>
                          <a:latin typeface="Calibri" pitchFamily="34" charset="0"/>
                          <a:ea typeface="Calibri" pitchFamily="34" charset="-122"/>
                          <a:cs typeface="Calibri" pitchFamily="34" charset="-120"/>
                        </a:rPr>
                        <a:t>Cada porción extra suma $1 a la ganancia.</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350" dirty="0">
                          <a:solidFill>
                            <a:srgbClr val="2B2118"/>
                          </a:solidFill>
                          <a:latin typeface="Calibri" pitchFamily="34" charset="0"/>
                          <a:ea typeface="Calibri" pitchFamily="34" charset="-122"/>
                          <a:cs typeface="Calibri" pitchFamily="34" charset="-120"/>
                        </a:rPr>
                        <a:t>Queso</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buNone/>
                      </a:pPr>
                      <a:r>
                        <a:rPr lang="en-US" sz="1350" dirty="0">
                          <a:solidFill>
                            <a:srgbClr val="2B2118"/>
                          </a:solidFill>
                          <a:latin typeface="Calibri" pitchFamily="34" charset="0"/>
                          <a:ea typeface="Calibri" pitchFamily="34" charset="-122"/>
                          <a:cs typeface="Calibri" pitchFamily="34" charset="-120"/>
                        </a:rPr>
                        <a:t>$2 / libra</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buNone/>
                      </a:pPr>
                      <a:r>
                        <a:rPr lang="en-US" sz="1350" dirty="0">
                          <a:solidFill>
                            <a:srgbClr val="2B2118"/>
                          </a:solidFill>
                          <a:latin typeface="Calibri" pitchFamily="34" charset="0"/>
                          <a:ea typeface="Calibri" pitchFamily="34" charset="-122"/>
                          <a:cs typeface="Calibri" pitchFamily="34" charset="-120"/>
                        </a:rPr>
                        <a:t>Recurso más valioso: cada libra extra suma $2.</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350" dirty="0">
                          <a:solidFill>
                            <a:srgbClr val="2B2118"/>
                          </a:solidFill>
                          <a:latin typeface="Calibri" pitchFamily="34" charset="0"/>
                          <a:ea typeface="Calibri" pitchFamily="34" charset="-122"/>
                          <a:cs typeface="Calibri" pitchFamily="34" charset="-120"/>
                        </a:rPr>
                        <a:t>Tiempo</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buNone/>
                      </a:pPr>
                      <a:r>
                        <a:rPr lang="en-US" sz="1350" dirty="0">
                          <a:solidFill>
                            <a:srgbClr val="2B2118"/>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tc>
                  <a:txBody>
                    <a:bodyPr/>
                    <a:lstStyle/>
                    <a:p>
                      <a:pPr marL="0" indent="0">
                        <a:buNone/>
                      </a:pPr>
                      <a:r>
                        <a:rPr lang="en-US" sz="1350" dirty="0">
                          <a:solidFill>
                            <a:srgbClr val="2B2118"/>
                          </a:solidFill>
                          <a:latin typeface="Calibri" pitchFamily="34" charset="0"/>
                          <a:ea typeface="Calibri" pitchFamily="34" charset="-122"/>
                          <a:cs typeface="Calibri" pitchFamily="34" charset="-120"/>
                        </a:rPr>
                        <a:t>Sobra capacidad; no limita la producción.</a:t>
                      </a:r>
                      <a:endParaRPr lang="en-US" sz="1350" dirty="0">
                        <a:latin typeface="Calibri" charset="0"/>
                        <a:ea typeface="Calibri" charset="0"/>
                        <a:cs typeface="Calibri" charset="0"/>
                      </a:endParaRPr>
                    </a:p>
                  </a:txBody>
                  <a:tcPr anchor="ctr">
                    <a:lnL w="12700" cap="flat" cmpd="sng" algn="ctr">
                      <a:solidFill>
                        <a:srgbClr val="E6DFD6"/>
                      </a:solidFill>
                      <a:prstDash val="solid"/>
                      <a:round/>
                      <a:headEnd type="none" w="med" len="med"/>
                      <a:tailEnd type="none" w="med" len="med"/>
                    </a:lnL>
                    <a:lnR w="12700" cap="flat" cmpd="sng" algn="ctr">
                      <a:solidFill>
                        <a:srgbClr val="E6DFD6"/>
                      </a:solidFill>
                      <a:prstDash val="solid"/>
                      <a:round/>
                      <a:headEnd type="none" w="med" len="med"/>
                      <a:tailEnd type="none" w="med" len="med"/>
                    </a:lnR>
                    <a:lnT w="12700" cap="flat" cmpd="sng" algn="ctr">
                      <a:solidFill>
                        <a:srgbClr val="E6DFD6"/>
                      </a:solidFill>
                      <a:prstDash val="solid"/>
                      <a:round/>
                      <a:headEnd type="none" w="med" len="med"/>
                      <a:tailEnd type="none" w="med" len="med"/>
                    </a:lnT>
                    <a:lnB w="12700" cap="flat" cmpd="sng" algn="ctr">
                      <a:solidFill>
                        <a:srgbClr val="E6DF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7726680" y="2286000"/>
            <a:ext cx="3611880" cy="2651760"/>
          </a:xfrm>
          <a:prstGeom prst="roundRect">
            <a:avLst>
              <a:gd name="adj" fmla="val 3448"/>
            </a:avLst>
          </a:prstGeom>
          <a:solidFill>
            <a:srgbClr val="F7F4F0"/>
          </a:solidFill>
          <a:ln w="19050">
            <a:solidFill>
              <a:srgbClr val="D98E04"/>
            </a:solidFill>
            <a:prstDash val="solid"/>
          </a:ln>
        </p:spPr>
      </p:sp>
      <p:sp>
        <p:nvSpPr>
          <p:cNvPr id="7" name="Text 4"/>
          <p:cNvSpPr/>
          <p:nvPr/>
        </p:nvSpPr>
        <p:spPr>
          <a:xfrm>
            <a:off x="7955280" y="2468880"/>
            <a:ext cx="3200400" cy="320040"/>
          </a:xfrm>
          <a:prstGeom prst="rect">
            <a:avLst/>
          </a:prstGeom>
          <a:noFill/>
          <a:ln/>
        </p:spPr>
        <p:txBody>
          <a:bodyPr wrap="square" lIns="0" tIns="0" rIns="0" bIns="0" rtlCol="0" anchor="ctr"/>
          <a:lstStyle/>
          <a:p>
            <a:pPr marL="0" indent="0">
              <a:buNone/>
            </a:pPr>
            <a:r>
              <a:rPr lang="en-US" sz="1150" b="1" kern="0" spc="100" dirty="0">
                <a:solidFill>
                  <a:srgbClr val="9A2A1E"/>
                </a:solidFill>
                <a:latin typeface="Calibri" pitchFamily="34" charset="0"/>
                <a:ea typeface="Calibri" pitchFamily="34" charset="-122"/>
                <a:cs typeface="Calibri" pitchFamily="34" charset="-120"/>
              </a:rPr>
              <a:t>VERIFICACIÓN POR DUALIDAD</a:t>
            </a:r>
            <a:endParaRPr lang="en-US" sz="1150" dirty="0"/>
          </a:p>
        </p:txBody>
      </p:sp>
      <p:sp>
        <p:nvSpPr>
          <p:cNvPr id="8" name="Text 5"/>
          <p:cNvSpPr/>
          <p:nvPr/>
        </p:nvSpPr>
        <p:spPr>
          <a:xfrm>
            <a:off x="7955280" y="2834640"/>
            <a:ext cx="3200400" cy="1371600"/>
          </a:xfrm>
          <a:prstGeom prst="rect">
            <a:avLst/>
          </a:prstGeom>
          <a:noFill/>
          <a:ln/>
        </p:spPr>
        <p:txBody>
          <a:bodyPr wrap="square" lIns="0" tIns="0" rIns="0" bIns="0" rtlCol="0" anchor="ctr"/>
          <a:lstStyle/>
          <a:p>
            <a:pPr marL="0" indent="0">
              <a:lnSpc>
                <a:spcPct val="105000"/>
              </a:lnSpc>
              <a:buNone/>
            </a:pPr>
            <a:r>
              <a:rPr lang="en-US" sz="2000" b="1" dirty="0">
                <a:solidFill>
                  <a:srgbClr val="241C16"/>
                </a:solidFill>
                <a:latin typeface="Consolas" pitchFamily="34" charset="0"/>
                <a:ea typeface="Consolas" pitchFamily="34" charset="-122"/>
                <a:cs typeface="Consolas" pitchFamily="34" charset="-120"/>
              </a:rPr>
              <a:t>60 × $1</a:t>
            </a:r>
            <a:endParaRPr lang="en-US" sz="2000" dirty="0"/>
          </a:p>
          <a:p>
            <a:pPr marL="0" indent="0">
              <a:lnSpc>
                <a:spcPct val="105000"/>
              </a:lnSpc>
              <a:buNone/>
            </a:pPr>
            <a:r>
              <a:rPr lang="en-US" sz="2000" b="1" dirty="0">
                <a:solidFill>
                  <a:srgbClr val="241C16"/>
                </a:solidFill>
                <a:latin typeface="Consolas" pitchFamily="34" charset="0"/>
                <a:ea typeface="Consolas" pitchFamily="34" charset="-122"/>
                <a:cs typeface="Consolas" pitchFamily="34" charset="-120"/>
              </a:rPr>
              <a:t>+  40 × $2</a:t>
            </a:r>
            <a:endParaRPr lang="en-US" sz="2000" dirty="0"/>
          </a:p>
          <a:p>
            <a:pPr marL="0" indent="0">
              <a:lnSpc>
                <a:spcPct val="105000"/>
              </a:lnSpc>
              <a:buNone/>
            </a:pPr>
            <a:r>
              <a:rPr lang="en-US" sz="2000" b="1" dirty="0">
                <a:solidFill>
                  <a:srgbClr val="241C16"/>
                </a:solidFill>
                <a:latin typeface="Consolas" pitchFamily="34" charset="0"/>
                <a:ea typeface="Consolas" pitchFamily="34" charset="-122"/>
                <a:cs typeface="Consolas" pitchFamily="34" charset="-120"/>
              </a:rPr>
              <a:t>———————</a:t>
            </a:r>
            <a:endParaRPr lang="en-US" sz="2000" dirty="0"/>
          </a:p>
          <a:p>
            <a:pPr marL="0" indent="0">
              <a:lnSpc>
                <a:spcPct val="105000"/>
              </a:lnSpc>
              <a:buNone/>
            </a:pPr>
            <a:r>
              <a:rPr lang="en-US" sz="2000" b="1" dirty="0">
                <a:solidFill>
                  <a:srgbClr val="241C16"/>
                </a:solidFill>
                <a:latin typeface="Consolas" pitchFamily="34" charset="0"/>
                <a:ea typeface="Consolas" pitchFamily="34" charset="-122"/>
                <a:cs typeface="Consolas" pitchFamily="34" charset="-120"/>
              </a:rPr>
              <a:t>= $140</a:t>
            </a:r>
            <a:endParaRPr lang="en-US" sz="2000" dirty="0"/>
          </a:p>
        </p:txBody>
      </p:sp>
      <p:sp>
        <p:nvSpPr>
          <p:cNvPr id="9" name="Text 6"/>
          <p:cNvSpPr/>
          <p:nvPr/>
        </p:nvSpPr>
        <p:spPr>
          <a:xfrm>
            <a:off x="7955280" y="4251960"/>
            <a:ext cx="3246120" cy="640080"/>
          </a:xfrm>
          <a:prstGeom prst="rect">
            <a:avLst/>
          </a:prstGeom>
          <a:noFill/>
          <a:ln/>
        </p:spPr>
        <p:txBody>
          <a:bodyPr wrap="square" lIns="0" tIns="0" rIns="0" bIns="0" rtlCol="0" anchor="ctr"/>
          <a:lstStyle/>
          <a:p>
            <a:pPr marL="0" indent="0">
              <a:lnSpc>
                <a:spcPct val="110000"/>
              </a:lnSpc>
              <a:buNone/>
            </a:pPr>
            <a:r>
              <a:rPr lang="en-US" sz="1150" dirty="0">
                <a:solidFill>
                  <a:srgbClr val="2B2118"/>
                </a:solidFill>
                <a:latin typeface="Calibri" pitchFamily="34" charset="0"/>
                <a:ea typeface="Calibri" pitchFamily="34" charset="-122"/>
                <a:cs typeface="Calibri" pitchFamily="34" charset="-120"/>
              </a:rPr>
              <a:t>El valor del dual coincide con la ganancia del primal (Z = $140): confirma que la solución es correcta.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274320"/>
          </a:xfrm>
          <a:prstGeom prst="rect">
            <a:avLst/>
          </a:prstGeom>
          <a:noFill/>
          <a:ln/>
        </p:spPr>
        <p:txBody>
          <a:bodyPr wrap="square" lIns="0" tIns="0" rIns="0" bIns="0" rtlCol="0" anchor="ctr"/>
          <a:lstStyle/>
          <a:p>
            <a:pPr marL="0" indent="0">
              <a:buNone/>
            </a:pPr>
            <a:r>
              <a:rPr lang="en-US" sz="1200" b="1" kern="0" spc="200" dirty="0">
                <a:solidFill>
                  <a:srgbClr val="C0392B"/>
                </a:solidFill>
                <a:latin typeface="Calibri" pitchFamily="34" charset="0"/>
                <a:ea typeface="Calibri" pitchFamily="34" charset="-122"/>
                <a:cs typeface="Calibri" pitchFamily="34" charset="-120"/>
              </a:rPr>
              <a:t>CIERRE</a:t>
            </a:r>
            <a:endParaRPr lang="en-US" sz="1200" dirty="0"/>
          </a:p>
        </p:txBody>
      </p:sp>
      <p:sp>
        <p:nvSpPr>
          <p:cNvPr id="3" name="Text 1"/>
          <p:cNvSpPr/>
          <p:nvPr/>
        </p:nvSpPr>
        <p:spPr>
          <a:xfrm>
            <a:off x="822960" y="841248"/>
            <a:ext cx="10972800" cy="822960"/>
          </a:xfrm>
          <a:prstGeom prst="rect">
            <a:avLst/>
          </a:prstGeom>
          <a:noFill/>
          <a:ln/>
        </p:spPr>
        <p:txBody>
          <a:bodyPr wrap="square" lIns="0" tIns="0" rIns="0" bIns="0" rtlCol="0" anchor="ctr"/>
          <a:lstStyle/>
          <a:p>
            <a:pPr marL="0" indent="0">
              <a:buNone/>
            </a:pPr>
            <a:r>
              <a:rPr lang="en-US" sz="3200" b="1" dirty="0">
                <a:solidFill>
                  <a:srgbClr val="241C16"/>
                </a:solidFill>
                <a:latin typeface="Georgia" pitchFamily="34" charset="0"/>
                <a:ea typeface="Georgia" pitchFamily="34" charset="-122"/>
                <a:cs typeface="Georgia" pitchFamily="34" charset="-120"/>
              </a:rPr>
              <a:t>Conclusiones y recomendaciones</a:t>
            </a:r>
            <a:endParaRPr lang="en-US" sz="3200" dirty="0"/>
          </a:p>
        </p:txBody>
      </p:sp>
      <p:sp>
        <p:nvSpPr>
          <p:cNvPr id="4" name="Shape 2"/>
          <p:cNvSpPr/>
          <p:nvPr/>
        </p:nvSpPr>
        <p:spPr>
          <a:xfrm>
            <a:off x="822960" y="1828800"/>
            <a:ext cx="5212080" cy="4297680"/>
          </a:xfrm>
          <a:prstGeom prst="roundRect">
            <a:avLst>
              <a:gd name="adj" fmla="val 1702"/>
            </a:avLst>
          </a:prstGeom>
          <a:solidFill>
            <a:srgbClr val="F7F4F0"/>
          </a:solidFill>
          <a:ln w="12700">
            <a:solidFill>
              <a:srgbClr val="E6DFD6"/>
            </a:solidFill>
            <a:prstDash val="solid"/>
          </a:ln>
        </p:spPr>
      </p:sp>
      <p:sp>
        <p:nvSpPr>
          <p:cNvPr id="5" name="Text 3"/>
          <p:cNvSpPr/>
          <p:nvPr/>
        </p:nvSpPr>
        <p:spPr>
          <a:xfrm>
            <a:off x="1097280" y="2011680"/>
            <a:ext cx="4663440" cy="457200"/>
          </a:xfrm>
          <a:prstGeom prst="rect">
            <a:avLst/>
          </a:prstGeom>
          <a:noFill/>
          <a:ln/>
        </p:spPr>
        <p:txBody>
          <a:bodyPr wrap="square" lIns="0" tIns="0" rIns="0" bIns="0" rtlCol="0" anchor="ctr"/>
          <a:lstStyle/>
          <a:p>
            <a:pPr marL="0" indent="0">
              <a:buNone/>
            </a:pPr>
            <a:r>
              <a:rPr lang="en-US" sz="2000" b="1" dirty="0">
                <a:solidFill>
                  <a:srgbClr val="C0392B"/>
                </a:solidFill>
                <a:latin typeface="Georgia" pitchFamily="34" charset="0"/>
                <a:ea typeface="Georgia" pitchFamily="34" charset="-122"/>
                <a:cs typeface="Georgia" pitchFamily="34" charset="-120"/>
              </a:rPr>
              <a:t>Conclusiones</a:t>
            </a:r>
            <a:endParaRPr lang="en-US" sz="2000" dirty="0"/>
          </a:p>
        </p:txBody>
      </p:sp>
      <p:sp>
        <p:nvSpPr>
          <p:cNvPr id="6" name="Text 4"/>
          <p:cNvSpPr/>
          <p:nvPr/>
        </p:nvSpPr>
        <p:spPr>
          <a:xfrm>
            <a:off x="1097280" y="2606040"/>
            <a:ext cx="4663440" cy="329184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450" dirty="0">
                <a:solidFill>
                  <a:srgbClr val="2B2118"/>
                </a:solidFill>
                <a:latin typeface="Calibri" pitchFamily="34" charset="0"/>
                <a:ea typeface="Calibri" pitchFamily="34" charset="-122"/>
                <a:cs typeface="Calibri" pitchFamily="34" charset="-120"/>
              </a:rPr>
              <a:t>El Método Simplex determinó la mezcla óptima: 20 y 20 pizzas, con $140 de ganancia diaria.</a:t>
            </a:r>
            <a:endParaRPr lang="en-US" sz="1450" dirty="0"/>
          </a:p>
          <a:p>
            <a:pPr marL="342900" indent="-342900">
              <a:lnSpc>
                <a:spcPct val="110000"/>
              </a:lnSpc>
              <a:spcAft>
                <a:spcPts val="1000"/>
              </a:spcAft>
              <a:buSzPct val="100000"/>
              <a:buChar char="•"/>
            </a:pPr>
            <a:r>
              <a:rPr lang="en-US" sz="1450" dirty="0">
                <a:solidFill>
                  <a:srgbClr val="2B2118"/>
                </a:solidFill>
                <a:latin typeface="Calibri" pitchFamily="34" charset="0"/>
                <a:ea typeface="Calibri" pitchFamily="34" charset="-122"/>
                <a:cs typeface="Calibri" pitchFamily="34" charset="-120"/>
              </a:rPr>
              <a:t>Masa y queso son los recursos que limitan la producción.</a:t>
            </a:r>
            <a:endParaRPr lang="en-US" sz="1450" dirty="0"/>
          </a:p>
          <a:p>
            <a:pPr marL="342900" indent="-342900">
              <a:lnSpc>
                <a:spcPct val="110000"/>
              </a:lnSpc>
              <a:spcAft>
                <a:spcPts val="1000"/>
              </a:spcAft>
              <a:buSzPct val="100000"/>
              <a:buChar char="•"/>
            </a:pPr>
            <a:r>
              <a:rPr lang="en-US" sz="1450" dirty="0">
                <a:solidFill>
                  <a:srgbClr val="2B2118"/>
                </a:solidFill>
                <a:latin typeface="Calibri" pitchFamily="34" charset="0"/>
                <a:ea typeface="Calibri" pitchFamily="34" charset="-122"/>
                <a:cs typeface="Calibri" pitchFamily="34" charset="-120"/>
              </a:rPr>
              <a:t>El método gráfico y la dualidad confirman que la solución es correcta.</a:t>
            </a:r>
            <a:endParaRPr lang="en-US" sz="1450" dirty="0"/>
          </a:p>
          <a:p>
            <a:pPr marL="342900" indent="-342900">
              <a:lnSpc>
                <a:spcPct val="110000"/>
              </a:lnSpc>
              <a:spcAft>
                <a:spcPts val="1000"/>
              </a:spcAft>
              <a:buSzPct val="100000"/>
              <a:buChar char="•"/>
            </a:pPr>
            <a:r>
              <a:rPr lang="en-US" sz="1450" dirty="0">
                <a:solidFill>
                  <a:srgbClr val="2B2118"/>
                </a:solidFill>
                <a:latin typeface="Calibri" pitchFamily="34" charset="0"/>
                <a:ea typeface="Calibri" pitchFamily="34" charset="-122"/>
                <a:cs typeface="Calibri" pitchFamily="34" charset="-120"/>
              </a:rPr>
              <a:t>La Programación Lineal apoya decisiones de producción basadas en datos.</a:t>
            </a:r>
            <a:endParaRPr lang="en-US" sz="1450" dirty="0"/>
          </a:p>
        </p:txBody>
      </p:sp>
      <p:sp>
        <p:nvSpPr>
          <p:cNvPr id="7" name="Shape 5"/>
          <p:cNvSpPr/>
          <p:nvPr/>
        </p:nvSpPr>
        <p:spPr>
          <a:xfrm>
            <a:off x="6355080" y="1828800"/>
            <a:ext cx="4983480" cy="4297680"/>
          </a:xfrm>
          <a:prstGeom prst="roundRect">
            <a:avLst>
              <a:gd name="adj" fmla="val 1702"/>
            </a:avLst>
          </a:prstGeom>
          <a:solidFill>
            <a:srgbClr val="FFFFFF"/>
          </a:solidFill>
          <a:ln w="12700">
            <a:solidFill>
              <a:srgbClr val="E6DFD6"/>
            </a:solidFill>
            <a:prstDash val="solid"/>
          </a:ln>
          <a:effectLst>
            <a:outerShdw blurRad="101600" dist="38100" dir="8100000" algn="bl" rotWithShape="0">
              <a:srgbClr val="000000">
                <a:alpha val="12000"/>
              </a:srgbClr>
            </a:outerShdw>
          </a:effectLst>
        </p:spPr>
      </p:sp>
      <p:sp>
        <p:nvSpPr>
          <p:cNvPr id="8" name="Text 6"/>
          <p:cNvSpPr/>
          <p:nvPr/>
        </p:nvSpPr>
        <p:spPr>
          <a:xfrm>
            <a:off x="6629400" y="2011680"/>
            <a:ext cx="4480560" cy="457200"/>
          </a:xfrm>
          <a:prstGeom prst="rect">
            <a:avLst/>
          </a:prstGeom>
          <a:noFill/>
          <a:ln/>
        </p:spPr>
        <p:txBody>
          <a:bodyPr wrap="square" lIns="0" tIns="0" rIns="0" bIns="0" rtlCol="0" anchor="ctr"/>
          <a:lstStyle/>
          <a:p>
            <a:pPr marL="0" indent="0">
              <a:buNone/>
            </a:pPr>
            <a:r>
              <a:rPr lang="en-US" sz="2000" b="1" dirty="0">
                <a:solidFill>
                  <a:srgbClr val="D98E04"/>
                </a:solidFill>
                <a:latin typeface="Georgia" pitchFamily="34" charset="0"/>
                <a:ea typeface="Georgia" pitchFamily="34" charset="-122"/>
                <a:cs typeface="Georgia" pitchFamily="34" charset="-120"/>
              </a:rPr>
              <a:t>Recomendaciones</a:t>
            </a:r>
            <a:endParaRPr lang="en-US" sz="2000" dirty="0"/>
          </a:p>
        </p:txBody>
      </p:sp>
      <p:sp>
        <p:nvSpPr>
          <p:cNvPr id="9" name="Text 7"/>
          <p:cNvSpPr/>
          <p:nvPr/>
        </p:nvSpPr>
        <p:spPr>
          <a:xfrm>
            <a:off x="6629400" y="2606040"/>
            <a:ext cx="4434840" cy="329184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450" dirty="0">
                <a:solidFill>
                  <a:srgbClr val="2B2118"/>
                </a:solidFill>
                <a:latin typeface="Calibri" pitchFamily="34" charset="0"/>
                <a:ea typeface="Calibri" pitchFamily="34" charset="-122"/>
                <a:cs typeface="Calibri" pitchFamily="34" charset="-120"/>
              </a:rPr>
              <a:t>Asegurar el abastecimiento de masa y queso (los cuellos de botella).</a:t>
            </a:r>
            <a:endParaRPr lang="en-US" sz="1450" dirty="0"/>
          </a:p>
          <a:p>
            <a:pPr marL="342900" indent="-342900">
              <a:lnSpc>
                <a:spcPct val="110000"/>
              </a:lnSpc>
              <a:spcAft>
                <a:spcPts val="1000"/>
              </a:spcAft>
              <a:buSzPct val="100000"/>
              <a:buChar char="•"/>
            </a:pPr>
            <a:r>
              <a:rPr lang="en-US" sz="1450" dirty="0">
                <a:solidFill>
                  <a:srgbClr val="2B2118"/>
                </a:solidFill>
                <a:latin typeface="Calibri" pitchFamily="34" charset="0"/>
                <a:ea typeface="Calibri" pitchFamily="34" charset="-122"/>
                <a:cs typeface="Calibri" pitchFamily="34" charset="-120"/>
              </a:rPr>
              <a:t>Priorizar la compra de queso: tiene el mayor precio sombra ($2).</a:t>
            </a:r>
            <a:endParaRPr lang="en-US" sz="1450" dirty="0"/>
          </a:p>
          <a:p>
            <a:pPr marL="342900" indent="-342900">
              <a:lnSpc>
                <a:spcPct val="110000"/>
              </a:lnSpc>
              <a:spcAft>
                <a:spcPts val="1000"/>
              </a:spcAft>
              <a:buSzPct val="100000"/>
              <a:buChar char="•"/>
            </a:pPr>
            <a:r>
              <a:rPr lang="en-US" sz="1450" dirty="0">
                <a:solidFill>
                  <a:srgbClr val="2B2118"/>
                </a:solidFill>
                <a:latin typeface="Calibri" pitchFamily="34" charset="0"/>
                <a:ea typeface="Calibri" pitchFamily="34" charset="-122"/>
                <a:cs typeface="Calibri" pitchFamily="34" charset="-120"/>
              </a:rPr>
              <a:t>Aprovechar las 5 horas-hombre libres en otros productos.</a:t>
            </a:r>
            <a:endParaRPr lang="en-US" sz="1450" dirty="0"/>
          </a:p>
          <a:p>
            <a:pPr marL="342900" indent="-342900">
              <a:lnSpc>
                <a:spcPct val="110000"/>
              </a:lnSpc>
              <a:spcAft>
                <a:spcPts val="1000"/>
              </a:spcAft>
              <a:buSzPct val="100000"/>
              <a:buChar char="•"/>
            </a:pPr>
            <a:r>
              <a:rPr lang="en-US" sz="1450" dirty="0">
                <a:solidFill>
                  <a:srgbClr val="2B2118"/>
                </a:solidFill>
                <a:latin typeface="Calibri" pitchFamily="34" charset="0"/>
                <a:ea typeface="Calibri" pitchFamily="34" charset="-122"/>
                <a:cs typeface="Calibri" pitchFamily="34" charset="-120"/>
              </a:rPr>
              <a:t>Actualizar los datos con cifras reales y ampliar el modelo a más productos.</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41C16"/>
        </a:solidFill>
        <a:effectLst/>
      </p:bgPr>
    </p:bg>
    <p:spTree>
      <p:nvGrpSpPr>
        <p:cNvPr id="1" name=""/>
        <p:cNvGrpSpPr/>
        <p:nvPr/>
      </p:nvGrpSpPr>
      <p:grpSpPr>
        <a:xfrm>
          <a:off x="0" y="0"/>
          <a:ext cx="0" cy="0"/>
          <a:chOff x="0" y="0"/>
          <a:chExt cx="0" cy="0"/>
        </a:xfrm>
      </p:grpSpPr>
      <p:sp>
        <p:nvSpPr>
          <p:cNvPr id="2" name="Shape 0"/>
          <p:cNvSpPr/>
          <p:nvPr/>
        </p:nvSpPr>
        <p:spPr>
          <a:xfrm>
            <a:off x="-1097280" y="-1097280"/>
            <a:ext cx="3657600" cy="3657600"/>
          </a:xfrm>
          <a:prstGeom prst="ellipse">
            <a:avLst/>
          </a:prstGeom>
          <a:solidFill>
            <a:srgbClr val="C0392B">
              <a:alpha val="20000"/>
            </a:srgbClr>
          </a:solidFill>
          <a:ln/>
        </p:spPr>
      </p:sp>
      <p:sp>
        <p:nvSpPr>
          <p:cNvPr id="3" name="Shape 1"/>
          <p:cNvSpPr/>
          <p:nvPr/>
        </p:nvSpPr>
        <p:spPr>
          <a:xfrm>
            <a:off x="10058400" y="4389120"/>
            <a:ext cx="3291840" cy="3291840"/>
          </a:xfrm>
          <a:prstGeom prst="ellipse">
            <a:avLst/>
          </a:prstGeom>
          <a:solidFill>
            <a:srgbClr val="D98E04">
              <a:alpha val="18000"/>
            </a:srgbClr>
          </a:solidFill>
          <a:ln/>
        </p:spPr>
      </p:sp>
      <p:sp>
        <p:nvSpPr>
          <p:cNvPr id="4" name="Text 2"/>
          <p:cNvSpPr/>
          <p:nvPr/>
        </p:nvSpPr>
        <p:spPr>
          <a:xfrm>
            <a:off x="0" y="1828800"/>
            <a:ext cx="12188952" cy="365760"/>
          </a:xfrm>
          <a:prstGeom prst="rect">
            <a:avLst/>
          </a:prstGeom>
          <a:noFill/>
          <a:ln/>
        </p:spPr>
        <p:txBody>
          <a:bodyPr wrap="square" lIns="0" tIns="0" rIns="0" bIns="0" rtlCol="0" anchor="ctr"/>
          <a:lstStyle/>
          <a:p>
            <a:pPr marL="0" indent="0" algn="ctr">
              <a:buNone/>
            </a:pPr>
            <a:r>
              <a:rPr lang="en-US" sz="1300" b="1" kern="0" spc="200" dirty="0">
                <a:solidFill>
                  <a:srgbClr val="D98E04"/>
                </a:solidFill>
                <a:latin typeface="Calibri" pitchFamily="34" charset="0"/>
                <a:ea typeface="Calibri" pitchFamily="34" charset="-122"/>
                <a:cs typeface="Calibri" pitchFamily="34" charset="-120"/>
              </a:rPr>
              <a:t>RESULTADO DEL CASO</a:t>
            </a:r>
            <a:endParaRPr lang="en-US" sz="1300" dirty="0"/>
          </a:p>
        </p:txBody>
      </p:sp>
      <p:sp>
        <p:nvSpPr>
          <p:cNvPr id="5" name="Text 3"/>
          <p:cNvSpPr/>
          <p:nvPr/>
        </p:nvSpPr>
        <p:spPr>
          <a:xfrm>
            <a:off x="0" y="2286000"/>
            <a:ext cx="12188952"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20 pizzas </a:t>
            </a:r>
            <a:r>
              <a:rPr lang="en-US" sz="4400" b="1" dirty="0" err="1">
                <a:solidFill>
                  <a:srgbClr val="FFFFFF"/>
                </a:solidFill>
                <a:latin typeface="Georgia" pitchFamily="34" charset="0"/>
                <a:ea typeface="Georgia" pitchFamily="34" charset="-122"/>
                <a:cs typeface="Georgia" pitchFamily="34" charset="-120"/>
              </a:rPr>
              <a:t>gigantes</a:t>
            </a:r>
            <a:r>
              <a:rPr lang="en-US" sz="4400" b="1" dirty="0">
                <a:solidFill>
                  <a:srgbClr val="FFFFFF"/>
                </a:solidFill>
                <a:latin typeface="Georgia" pitchFamily="34" charset="0"/>
                <a:ea typeface="Georgia" pitchFamily="34" charset="-122"/>
                <a:cs typeface="Georgia" pitchFamily="34" charset="-120"/>
              </a:rPr>
              <a:t> + 20 pizzas </a:t>
            </a:r>
            <a:r>
              <a:rPr lang="en-US" sz="4400" b="1" dirty="0" err="1">
                <a:solidFill>
                  <a:srgbClr val="FFFFFF"/>
                </a:solidFill>
                <a:latin typeface="Georgia" pitchFamily="34" charset="0"/>
                <a:ea typeface="Georgia" pitchFamily="34" charset="-122"/>
                <a:cs typeface="Georgia" pitchFamily="34" charset="-120"/>
              </a:rPr>
              <a:t>personales</a:t>
            </a:r>
            <a:r>
              <a:rPr lang="en-US" sz="4400" b="1" dirty="0">
                <a:solidFill>
                  <a:srgbClr val="FFFFFF"/>
                </a:solidFill>
                <a:latin typeface="Georgia" pitchFamily="34" charset="0"/>
                <a:ea typeface="Georgia" pitchFamily="34" charset="-122"/>
                <a:cs typeface="Georgia" pitchFamily="34" charset="-120"/>
              </a:rPr>
              <a:t>  =  $140 / día</a:t>
            </a:r>
            <a:endParaRPr lang="en-US" sz="4400" dirty="0"/>
          </a:p>
        </p:txBody>
      </p:sp>
      <p:sp>
        <p:nvSpPr>
          <p:cNvPr id="6" name="Text 4"/>
          <p:cNvSpPr/>
          <p:nvPr/>
        </p:nvSpPr>
        <p:spPr>
          <a:xfrm>
            <a:off x="0" y="3383280"/>
            <a:ext cx="12188952" cy="457200"/>
          </a:xfrm>
          <a:prstGeom prst="rect">
            <a:avLst/>
          </a:prstGeom>
          <a:noFill/>
          <a:ln/>
        </p:spPr>
        <p:txBody>
          <a:bodyPr wrap="square" lIns="0" tIns="0" rIns="0" bIns="0" rtlCol="0" anchor="ctr"/>
          <a:lstStyle/>
          <a:p>
            <a:pPr marL="0" indent="0" algn="ctr">
              <a:buNone/>
            </a:pPr>
            <a:r>
              <a:rPr lang="en-US" sz="1600" i="1" dirty="0">
                <a:solidFill>
                  <a:srgbClr val="D9CFC4"/>
                </a:solidFill>
                <a:latin typeface="Calibri" pitchFamily="34" charset="0"/>
                <a:ea typeface="Calibri" pitchFamily="34" charset="-122"/>
                <a:cs typeface="Calibri" pitchFamily="34" charset="-120"/>
              </a:rPr>
              <a:t>La ganancia máxima posible dentro de los recursos disponibles.</a:t>
            </a:r>
            <a:endParaRPr lang="en-US" sz="1600" dirty="0"/>
          </a:p>
        </p:txBody>
      </p:sp>
      <p:sp>
        <p:nvSpPr>
          <p:cNvPr id="7" name="Shape 5"/>
          <p:cNvSpPr/>
          <p:nvPr/>
        </p:nvSpPr>
        <p:spPr>
          <a:xfrm>
            <a:off x="5175504" y="4114800"/>
            <a:ext cx="1828800" cy="0"/>
          </a:xfrm>
          <a:prstGeom prst="line">
            <a:avLst/>
          </a:prstGeom>
          <a:noFill/>
          <a:ln w="31750">
            <a:solidFill>
              <a:srgbClr val="C0392B"/>
            </a:solidFill>
            <a:prstDash val="solid"/>
          </a:ln>
        </p:spPr>
      </p:sp>
      <p:sp>
        <p:nvSpPr>
          <p:cNvPr id="8" name="Text 6"/>
          <p:cNvSpPr/>
          <p:nvPr/>
        </p:nvSpPr>
        <p:spPr>
          <a:xfrm>
            <a:off x="0" y="4389120"/>
            <a:ext cx="12188952"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¿Preguntas?</a:t>
            </a:r>
            <a:endParaRPr lang="en-US" sz="2600" dirty="0"/>
          </a:p>
        </p:txBody>
      </p:sp>
      <p:sp>
        <p:nvSpPr>
          <p:cNvPr id="9" name="Text 7"/>
          <p:cNvSpPr/>
          <p:nvPr/>
        </p:nvSpPr>
        <p:spPr>
          <a:xfrm>
            <a:off x="0" y="5074920"/>
            <a:ext cx="12188952" cy="365760"/>
          </a:xfrm>
          <a:prstGeom prst="rect">
            <a:avLst/>
          </a:prstGeom>
          <a:noFill/>
          <a:ln/>
        </p:spPr>
        <p:txBody>
          <a:bodyPr wrap="square" lIns="0" tIns="0" rIns="0" bIns="0" rtlCol="0" anchor="ctr"/>
          <a:lstStyle/>
          <a:p>
            <a:pPr marL="0" indent="0" algn="ctr">
              <a:buNone/>
            </a:pPr>
            <a:r>
              <a:rPr lang="en-US" sz="1400" dirty="0">
                <a:solidFill>
                  <a:srgbClr val="9A8F84"/>
                </a:solidFill>
                <a:latin typeface="Calibri" pitchFamily="34" charset="0"/>
                <a:ea typeface="Calibri" pitchFamily="34" charset="-122"/>
                <a:cs typeface="Calibri" pitchFamily="34" charset="-120"/>
              </a:rPr>
              <a:t>Gracias por su atención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1553</Words>
  <Application>Microsoft Office PowerPoint</Application>
  <PresentationFormat>Panorámica</PresentationFormat>
  <Paragraphs>177</Paragraphs>
  <Slides>11</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Consolas</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 Método Simplex Pizzería M y M</dc:title>
  <dc:subject>PptxGenJS Presentation</dc:subject>
  <dc:creator>Equipo DentalCare / IO</dc:creator>
  <cp:lastModifiedBy>Luis Enrique Vasquez Menjivar</cp:lastModifiedBy>
  <cp:revision>2</cp:revision>
  <dcterms:created xsi:type="dcterms:W3CDTF">2026-06-08T15:34:39Z</dcterms:created>
  <dcterms:modified xsi:type="dcterms:W3CDTF">2026-06-08T16:12:10Z</dcterms:modified>
</cp:coreProperties>
</file>